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Lst>
  <p:notesMasterIdLst>
    <p:notesMasterId r:id="rId1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notesMaster" Target="notesMasters/notesMaster1.xml"/><Relationship Id="rId165" Type="http://schemas.openxmlformats.org/officeDocument/2006/relationships/presProps" Target="presProps.xml"/><Relationship Id="rId166" Type="http://schemas.openxmlformats.org/officeDocument/2006/relationships/viewProps" Target="viewProps.xml"/><Relationship Id="rId167" Type="http://schemas.openxmlformats.org/officeDocument/2006/relationships/theme" Target="theme/theme1.xml"/><Relationship Id="rId1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1319"/>
        </a:solidFill>
      </p:bgPr>
    </p:bg>
    <p:spTree>
      <p:nvGrpSpPr>
        <p:cNvPr id="1" name=""/>
        <p:cNvGrpSpPr/>
        <p:nvPr/>
      </p:nvGrpSpPr>
      <p:grpSpPr>
        <a:xfrm>
          <a:off x="0" y="0"/>
          <a:ext cx="0" cy="0"/>
          <a:chOff x="0" y="0"/>
          <a:chExt cx="0" cy="0"/>
        </a:xfrm>
      </p:grpSpPr>
      <p:sp>
        <p:nvSpPr>
          <p:cNvPr id="2" name="Text 0"/>
          <p:cNvSpPr/>
          <p:nvPr/>
        </p:nvSpPr>
        <p:spPr>
          <a:xfrm>
            <a:off x="548640" y="502920"/>
            <a:ext cx="11064240" cy="457200"/>
          </a:xfrm>
          <a:prstGeom prst="rect">
            <a:avLst/>
          </a:prstGeom>
          <a:noFill/>
          <a:ln/>
        </p:spPr>
        <p:txBody>
          <a:bodyPr wrap="square" rtlCol="0" anchor="ctr"/>
          <a:lstStyle/>
          <a:p>
            <a:pPr indent="0" marL="0">
              <a:buNone/>
            </a:pPr>
            <a:r>
              <a:rPr lang="en-US" sz="1400" b="1" spc="200" kern="0" dirty="0">
                <a:solidFill>
                  <a:srgbClr val="F3D9D9"/>
                </a:solidFill>
                <a:latin typeface="Calibri" pitchFamily="34" charset="0"/>
                <a:ea typeface="Calibri" pitchFamily="34" charset="-122"/>
                <a:cs typeface="Calibri" pitchFamily="34" charset="-120"/>
              </a:rPr>
              <a:t>BOMA CAREER DAY 2026</a:t>
            </a:r>
            <a:endParaRPr lang="en-US" sz="1400" dirty="0"/>
          </a:p>
        </p:txBody>
      </p:sp>
      <p:sp>
        <p:nvSpPr>
          <p:cNvPr id="3" name="Text 1"/>
          <p:cNvSpPr/>
          <p:nvPr/>
        </p:nvSpPr>
        <p:spPr>
          <a:xfrm>
            <a:off x="548640" y="914400"/>
            <a:ext cx="1106424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Cluster Session Slides</a:t>
            </a:r>
            <a:endParaRPr lang="en-US" sz="4400" dirty="0"/>
          </a:p>
        </p:txBody>
      </p:sp>
      <p:sp>
        <p:nvSpPr>
          <p:cNvPr id="4" name="Text 2"/>
          <p:cNvSpPr/>
          <p:nvPr/>
        </p:nvSpPr>
        <p:spPr>
          <a:xfrm>
            <a:off x="548640" y="1874520"/>
            <a:ext cx="10881360" cy="457200"/>
          </a:xfrm>
          <a:prstGeom prst="rect">
            <a:avLst/>
          </a:prstGeom>
          <a:noFill/>
          <a:ln/>
        </p:spPr>
        <p:txBody>
          <a:bodyPr wrap="square" rtlCol="0" anchor="ctr"/>
          <a:lstStyle/>
          <a:p>
            <a:pPr indent="0" marL="0">
              <a:buNone/>
            </a:pPr>
            <a:r>
              <a:rPr lang="en-US" sz="1700" i="1" dirty="0">
                <a:solidFill>
                  <a:srgbClr val="F3D9D9"/>
                </a:solidFill>
                <a:latin typeface="Calibri" pitchFamily="34" charset="0"/>
                <a:ea typeface="Calibri" pitchFamily="34" charset="-122"/>
                <a:cs typeface="Calibri" pitchFamily="34" charset="-120"/>
              </a:rPr>
              <a:t>23 clusters · 7 slides each — a quick-reference card, then a full plug-and-play walkthrough</a:t>
            </a:r>
            <a:endParaRPr lang="en-US" sz="1700" dirty="0"/>
          </a:p>
        </p:txBody>
      </p:sp>
      <p:sp>
        <p:nvSpPr>
          <p:cNvPr id="5" name="Shape 3"/>
          <p:cNvSpPr/>
          <p:nvPr/>
        </p:nvSpPr>
        <p:spPr>
          <a:xfrm>
            <a:off x="548640" y="2651760"/>
            <a:ext cx="11064240" cy="2560320"/>
          </a:xfrm>
          <a:prstGeom prst="roundRect">
            <a:avLst>
              <a:gd name="adj" fmla="val 2857"/>
            </a:avLst>
          </a:prstGeom>
          <a:solidFill>
            <a:srgbClr val="FFFFFF"/>
          </a:solidFill>
          <a:ln/>
        </p:spPr>
      </p:sp>
      <p:sp>
        <p:nvSpPr>
          <p:cNvPr id="6" name="Text 4"/>
          <p:cNvSpPr/>
          <p:nvPr/>
        </p:nvSpPr>
        <p:spPr>
          <a:xfrm>
            <a:off x="914400" y="2880360"/>
            <a:ext cx="10332720" cy="365760"/>
          </a:xfrm>
          <a:prstGeom prst="rect">
            <a:avLst/>
          </a:prstGeom>
          <a:noFill/>
          <a:ln/>
        </p:spPr>
        <p:txBody>
          <a:bodyPr wrap="square" rtlCol="0" anchor="ctr"/>
          <a:lstStyle/>
          <a:p>
            <a:pPr indent="0" marL="0">
              <a:buNone/>
            </a:pPr>
            <a:r>
              <a:rPr lang="en-US" sz="1500" b="1" dirty="0">
                <a:solidFill>
                  <a:srgbClr val="7A1319"/>
                </a:solidFill>
                <a:latin typeface="Calibri" pitchFamily="34" charset="0"/>
                <a:ea typeface="Calibri" pitchFamily="34" charset="-122"/>
                <a:cs typeface="Calibri" pitchFamily="34" charset="-120"/>
              </a:rPr>
              <a:t>A GUIDE, NOT A SCRIPT</a:t>
            </a:r>
            <a:endParaRPr lang="en-US" sz="1500" dirty="0"/>
          </a:p>
        </p:txBody>
      </p:sp>
      <p:sp>
        <p:nvSpPr>
          <p:cNvPr id="7" name="Text 5"/>
          <p:cNvSpPr/>
          <p:nvPr/>
        </p:nvSpPr>
        <p:spPr>
          <a:xfrm>
            <a:off x="914400" y="3291840"/>
            <a:ext cx="10332720" cy="1417320"/>
          </a:xfrm>
          <a:prstGeom prst="rect">
            <a:avLst/>
          </a:prstGeom>
          <a:noFill/>
          <a:ln/>
        </p:spPr>
        <p:txBody>
          <a:bodyPr wrap="square" rtlCol="0" anchor="ctr"/>
          <a:lstStyle/>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Every cluster's slide set is a starting point, not a transcript: a quick card (slide 1), then six walkthrough slides — the opening, careers to mention, key talking points, the full "For Our Girls" note, an activity with Q&amp;A prompts, and a wrap-up. Cut what doesn't fit, reorder freely, and add your own story wherever it lands better than ours. Every detail slide is tagged as content ideas to adapt, not a required script.</a:t>
            </a:r>
            <a:endParaRPr lang="en-US" sz="1400" dirty="0"/>
          </a:p>
        </p:txBody>
      </p:sp>
      <p:sp>
        <p:nvSpPr>
          <p:cNvPr id="8" name="Text 6"/>
          <p:cNvSpPr/>
          <p:nvPr/>
        </p:nvSpPr>
        <p:spPr>
          <a:xfrm>
            <a:off x="914400" y="4800600"/>
            <a:ext cx="10332720" cy="365760"/>
          </a:xfrm>
          <a:prstGeom prst="rect">
            <a:avLst/>
          </a:prstGeom>
          <a:noFill/>
          <a:ln/>
        </p:spPr>
        <p:txBody>
          <a:bodyPr wrap="square"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Rooms aren't assigned yet, so every cluster is labelled only by its code — "Room A1", "Room E3" — for now.</a:t>
            </a:r>
            <a:endParaRPr lang="en-US" sz="1300" dirty="0"/>
          </a:p>
        </p:txBody>
      </p:sp>
      <p:sp>
        <p:nvSpPr>
          <p:cNvPr id="9" name="Text 7"/>
          <p:cNvSpPr/>
          <p:nvPr/>
        </p:nvSpPr>
        <p:spPr>
          <a:xfrm>
            <a:off x="548640" y="6355080"/>
            <a:ext cx="11064240" cy="365760"/>
          </a:xfrm>
          <a:prstGeom prst="rect">
            <a:avLst/>
          </a:prstGeom>
          <a:noFill/>
          <a:ln/>
        </p:spPr>
        <p:txBody>
          <a:bodyPr wrap="square" rtlCol="0" anchor="ctr"/>
          <a:lstStyle/>
          <a:p>
            <a:pPr indent="0" marL="0">
              <a:buNone/>
            </a:pPr>
            <a:r>
              <a:rPr lang="en-US" sz="1200" dirty="0">
                <a:solidFill>
                  <a:srgbClr val="F3D9D9"/>
                </a:solidFill>
                <a:latin typeface="Calibri" pitchFamily="34" charset="0"/>
                <a:ea typeface="Calibri" pitchFamily="34" charset="-122"/>
                <a:cs typeface="Calibri" pitchFamily="34" charset="-120"/>
              </a:rPr>
              <a:t>Kenya High School Alumnae Society  ·  Saturday 29 August 2026  ·  Kenya High School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B6E7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A</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Health, Medicine &amp; Human Performance</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8DB7BD"/>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A1</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Medical Practitioners</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A1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1B6E7A"/>
                </a:solidFill>
                <a:latin typeface="Cambria" pitchFamily="34" charset="0"/>
                <a:ea typeface="Cambria" pitchFamily="34" charset="-122"/>
                <a:cs typeface="Cambria" pitchFamily="34" charset="-120"/>
              </a:rPr>
              <a:t>One patient, an entire team of professionals — and every one of them started exactly where these students are sitting now.</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Medical Doctor (MBChB)</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Dentist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Pharmacist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Clinical Officer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Registered Nurse</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Medical Lab Technologist / Radiographer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8F1F2"/>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1B6E7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these students plainly: if a specialty interests you — surgery, orthopaedics, cardiology, hospital leadership — that interest is reason enough to pursue it.</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A1  ·  MEDICAL PRACTITIONERS  ·  ROOM A1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DF3F4"/>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1B6E7A"/>
                </a:solidFill>
                <a:latin typeface="Cambria" pitchFamily="34" charset="0"/>
                <a:ea typeface="Cambria" pitchFamily="34" charset="-122"/>
                <a:cs typeface="Cambria" pitchFamily="34" charset="-120"/>
              </a:rPr>
              <a:t>"One patient, an entire team of professionals — and every one of them started exactly where these students are sitting now."</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Kenya has fewer than 2 doctors per 10,000 people — nowhere near enough. Every student in this room today is a potential answer to that gap, whichever part of medicine they choose.</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A1  ·  MEDICAL PRACTITIONERS  ·  ROOM A1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EFF5F6"/>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Medical Doctor (MBChB)</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6 years plus internship; broad training before choosing a specialty later.</a:t>
            </a:r>
            <a:endParaRPr lang="en-US" sz="1200" dirty="0"/>
          </a:p>
        </p:txBody>
      </p:sp>
      <p:sp>
        <p:nvSpPr>
          <p:cNvPr id="9" name="Shape 7"/>
          <p:cNvSpPr/>
          <p:nvPr/>
        </p:nvSpPr>
        <p:spPr>
          <a:xfrm>
            <a:off x="6195060" y="1691640"/>
            <a:ext cx="5417820" cy="1447800"/>
          </a:xfrm>
          <a:prstGeom prst="roundRect">
            <a:avLst>
              <a:gd name="adj" fmla="val 4421"/>
            </a:avLst>
          </a:prstGeom>
          <a:solidFill>
            <a:srgbClr val="EFF5F6"/>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Dentist</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 distinct degree path; oral health is chronically under-resourced in Kenya — real demand here.</a:t>
            </a:r>
            <a:endParaRPr lang="en-US" sz="1200" dirty="0"/>
          </a:p>
        </p:txBody>
      </p:sp>
      <p:sp>
        <p:nvSpPr>
          <p:cNvPr id="12" name="Shape 10"/>
          <p:cNvSpPr/>
          <p:nvPr/>
        </p:nvSpPr>
        <p:spPr>
          <a:xfrm>
            <a:off x="548640" y="3322320"/>
            <a:ext cx="5417820" cy="1447800"/>
          </a:xfrm>
          <a:prstGeom prst="roundRect">
            <a:avLst>
              <a:gd name="adj" fmla="val 4421"/>
            </a:avLst>
          </a:prstGeom>
          <a:solidFill>
            <a:srgbClr val="EFF5F6"/>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Pharmacist</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Far more than dispensing — clinical pharmacology, drug safety, and increasingly, direct patient care.</a:t>
            </a:r>
            <a:endParaRPr lang="en-US" sz="1200" dirty="0"/>
          </a:p>
        </p:txBody>
      </p:sp>
      <p:sp>
        <p:nvSpPr>
          <p:cNvPr id="15" name="Shape 13"/>
          <p:cNvSpPr/>
          <p:nvPr/>
        </p:nvSpPr>
        <p:spPr>
          <a:xfrm>
            <a:off x="6195060" y="3322320"/>
            <a:ext cx="5417820" cy="1447800"/>
          </a:xfrm>
          <a:prstGeom prst="roundRect">
            <a:avLst>
              <a:gd name="adj" fmla="val 4421"/>
            </a:avLst>
          </a:prstGeom>
          <a:solidFill>
            <a:srgbClr val="EFF5F6"/>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Clinical Officer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 shorter, still-rigorous route into frontline diagnosis and treatment, especially vital outside major cities.</a:t>
            </a:r>
            <a:endParaRPr lang="en-US" sz="1200" dirty="0"/>
          </a:p>
        </p:txBody>
      </p:sp>
      <p:sp>
        <p:nvSpPr>
          <p:cNvPr id="18" name="Shape 16"/>
          <p:cNvSpPr/>
          <p:nvPr/>
        </p:nvSpPr>
        <p:spPr>
          <a:xfrm>
            <a:off x="548640" y="4953000"/>
            <a:ext cx="5417820" cy="1447800"/>
          </a:xfrm>
          <a:prstGeom prst="roundRect">
            <a:avLst>
              <a:gd name="adj" fmla="val 4421"/>
            </a:avLst>
          </a:prstGeom>
          <a:solidFill>
            <a:srgbClr val="EFF5F6"/>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Registered Nurse</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The backbone of every care setting; real progression into specialist and leadership nursing roles.</a:t>
            </a:r>
            <a:endParaRPr lang="en-US" sz="1200" dirty="0"/>
          </a:p>
        </p:txBody>
      </p:sp>
      <p:sp>
        <p:nvSpPr>
          <p:cNvPr id="21" name="Shape 19"/>
          <p:cNvSpPr/>
          <p:nvPr/>
        </p:nvSpPr>
        <p:spPr>
          <a:xfrm>
            <a:off x="6195060" y="4953000"/>
            <a:ext cx="5417820" cy="1447800"/>
          </a:xfrm>
          <a:prstGeom prst="roundRect">
            <a:avLst>
              <a:gd name="adj" fmla="val 4421"/>
            </a:avLst>
          </a:prstGeom>
          <a:solidFill>
            <a:srgbClr val="EFF5F6"/>
          </a:solidFill>
          <a:ln/>
        </p:spPr>
      </p:sp>
      <p:sp>
        <p:nvSpPr>
          <p:cNvPr id="22" name="Text 20"/>
          <p:cNvSpPr/>
          <p:nvPr/>
        </p:nvSpPr>
        <p:spPr>
          <a:xfrm>
            <a:off x="6396228" y="509016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Medical Lab Technologist / Radiographer</a:t>
            </a:r>
            <a:endParaRPr lang="en-US" sz="1450" dirty="0"/>
          </a:p>
        </p:txBody>
      </p:sp>
      <p:sp>
        <p:nvSpPr>
          <p:cNvPr id="23" name="Text 21"/>
          <p:cNvSpPr/>
          <p:nvPr/>
        </p:nvSpPr>
        <p:spPr>
          <a:xfrm>
            <a:off x="639622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The diagnostics behind every diagnosis — high-demand, technical, and often overlooked.</a:t>
            </a:r>
            <a:endParaRPr lang="en-US" sz="1200" dirty="0"/>
          </a:p>
        </p:txBody>
      </p:sp>
      <p:sp>
        <p:nvSpPr>
          <p:cNvPr id="24" name="Text 22"/>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A1  ·  MEDICAL PRACTITIONERS  ·  ROOM A1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1936699"/>
            <a:ext cx="402336" cy="402336"/>
          </a:xfrm>
          <a:prstGeom prst="ellipse">
            <a:avLst/>
          </a:prstGeom>
          <a:solidFill>
            <a:srgbClr val="1B6E7A"/>
          </a:solidFill>
          <a:ln/>
        </p:spPr>
      </p:sp>
      <p:sp>
        <p:nvSpPr>
          <p:cNvPr id="7" name="Text 5"/>
          <p:cNvSpPr/>
          <p:nvPr/>
        </p:nvSpPr>
        <p:spPr>
          <a:xfrm>
            <a:off x="548640" y="1936699"/>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801014"/>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Medicine is a family of professions, not one job — say the names of every role in the room out loud, together, so students see the whole team, not just 'doctor.'</a:t>
            </a:r>
            <a:endParaRPr lang="en-US" sz="1400" dirty="0"/>
          </a:p>
        </p:txBody>
      </p:sp>
      <p:sp>
        <p:nvSpPr>
          <p:cNvPr id="9" name="Shape 7"/>
          <p:cNvSpPr/>
          <p:nvPr/>
        </p:nvSpPr>
        <p:spPr>
          <a:xfrm>
            <a:off x="548640" y="2902306"/>
            <a:ext cx="402336" cy="402336"/>
          </a:xfrm>
          <a:prstGeom prst="ellipse">
            <a:avLst/>
          </a:prstGeom>
          <a:solidFill>
            <a:srgbClr val="1B6E7A"/>
          </a:solidFill>
          <a:ln/>
        </p:spPr>
      </p:sp>
      <p:sp>
        <p:nvSpPr>
          <p:cNvPr id="10" name="Text 8"/>
          <p:cNvSpPr/>
          <p:nvPr/>
        </p:nvSpPr>
        <p:spPr>
          <a:xfrm>
            <a:off x="548640" y="290230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702966"/>
            <a:ext cx="10469880" cy="801014"/>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 honest about training length and intensity; students trust specificity far more than vague encouragement.</a:t>
            </a:r>
            <a:endParaRPr lang="en-US" sz="1400" dirty="0"/>
          </a:p>
        </p:txBody>
      </p:sp>
      <p:sp>
        <p:nvSpPr>
          <p:cNvPr id="12" name="Shape 10"/>
          <p:cNvSpPr/>
          <p:nvPr/>
        </p:nvSpPr>
        <p:spPr>
          <a:xfrm>
            <a:off x="548640" y="3867912"/>
            <a:ext cx="402336" cy="402336"/>
          </a:xfrm>
          <a:prstGeom prst="ellipse">
            <a:avLst/>
          </a:prstGeom>
          <a:solidFill>
            <a:srgbClr val="1B6E7A"/>
          </a:solidFill>
          <a:ln/>
        </p:spPr>
      </p:sp>
      <p:sp>
        <p:nvSpPr>
          <p:cNvPr id="13" name="Text 11"/>
          <p:cNvSpPr/>
          <p:nvPr/>
        </p:nvSpPr>
        <p:spPr>
          <a:xfrm>
            <a:off x="548640" y="3867912"/>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3668573"/>
            <a:ext cx="10469880" cy="801014"/>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Talk about a real hard day — a loss, a difficult diagnosis, a moment of doubt — and how you got through it. That honesty is what actually earns trust in this room.</a:t>
            </a:r>
            <a:endParaRPr lang="en-US" sz="1400" dirty="0"/>
          </a:p>
        </p:txBody>
      </p:sp>
      <p:sp>
        <p:nvSpPr>
          <p:cNvPr id="15" name="Shape 13"/>
          <p:cNvSpPr/>
          <p:nvPr/>
        </p:nvSpPr>
        <p:spPr>
          <a:xfrm>
            <a:off x="548640" y="4833518"/>
            <a:ext cx="402336" cy="402336"/>
          </a:xfrm>
          <a:prstGeom prst="ellipse">
            <a:avLst/>
          </a:prstGeom>
          <a:solidFill>
            <a:srgbClr val="1B6E7A"/>
          </a:solidFill>
          <a:ln/>
        </p:spPr>
      </p:sp>
      <p:sp>
        <p:nvSpPr>
          <p:cNvPr id="16" name="Text 14"/>
          <p:cNvSpPr/>
          <p:nvPr/>
        </p:nvSpPr>
        <p:spPr>
          <a:xfrm>
            <a:off x="548640" y="483351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4634179"/>
            <a:ext cx="10469880" cy="801014"/>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Highlight allied health (nursing, clinical medicine, lab sciences) as equally vital, not a consolation prize next to 'doctor.'</a:t>
            </a:r>
            <a:endParaRPr lang="en-US" sz="1400" dirty="0"/>
          </a:p>
        </p:txBody>
      </p:sp>
      <p:sp>
        <p:nvSpPr>
          <p:cNvPr id="18" name="Shape 16"/>
          <p:cNvSpPr/>
          <p:nvPr/>
        </p:nvSpPr>
        <p:spPr>
          <a:xfrm>
            <a:off x="548640" y="5799125"/>
            <a:ext cx="402336" cy="402336"/>
          </a:xfrm>
          <a:prstGeom prst="ellipse">
            <a:avLst/>
          </a:prstGeom>
          <a:solidFill>
            <a:srgbClr val="1B6E7A"/>
          </a:solidFill>
          <a:ln/>
        </p:spPr>
      </p:sp>
      <p:sp>
        <p:nvSpPr>
          <p:cNvPr id="19" name="Text 17"/>
          <p:cNvSpPr/>
          <p:nvPr/>
        </p:nvSpPr>
        <p:spPr>
          <a:xfrm>
            <a:off x="548640" y="5799125"/>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0" name="Text 18"/>
          <p:cNvSpPr/>
          <p:nvPr/>
        </p:nvSpPr>
        <p:spPr>
          <a:xfrm>
            <a:off x="1143000" y="5599786"/>
            <a:ext cx="10469880" cy="801014"/>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Strong biology/chemistry helps, but stamina, empathy, and a genuine appetite for lifelong learning matter just as much as grades.</a:t>
            </a:r>
            <a:endParaRPr lang="en-US" sz="14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6F7"/>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A1  ·  MEDICAL PRACTITIONERS  ·  ROOM A1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1B6E7A"/>
                </a:solidFill>
                <a:latin typeface="Cambria" pitchFamily="34" charset="0"/>
                <a:ea typeface="Cambria" pitchFamily="34" charset="-122"/>
                <a:cs typeface="Cambria" pitchFamily="34" charset="-120"/>
              </a:rPr>
              <a:t>claim the whole hospital, not just the ward</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Kenyan medical schools now graduate close to equal numbers of men and women — but walk into most surgical theatres, cardiology units, or hospital boardrooms and the balance quietly tips back. That gap isn't about skill; it's about who was told, early and often, which specialties 'suit' them. Tell these students plainly: if a specialty interests you — surgery, orthopaedics, cardiology, hospital leadership — that interest is reason enough to pursue it. Ask for the mentor, the elective, the theatre slot. The instinct to steer yourself toward the 'softer' specialty is worth noticing and questioning, not obeying.</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A1  ·  MEDICAL PRACTITIONERS  ·  ROOM A1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EFF5F6"/>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1B6E7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Present a short, simplified patient case and have pairs list what questions they'd ask first — then reveal how many different professionals in the room would each contribute a different, necessary piece.</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1B6E7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something about this job nobody warns you about?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cope after a hard day or a loss?</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Which part of medicine do you wish more girls specifically knew was open to them?</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A1  ·  MEDICAL PRACTITIONERS  ·  ROOM A1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1B6E7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research one allied-health profession you've never considered standing next to 'doctor' — and one specialty you've been told is 'hard for women.'</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stethoscope, ID badge, or simple prop to pass around</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simplified, anonymised case example to talk through</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A1 — Medical Practitioners.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B6E7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A</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Health, Medicine &amp; Human Performance</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8DB7BD"/>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A2</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Public Health &amp; Psychosocial Services</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A2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1B6E7A"/>
                </a:solidFill>
                <a:latin typeface="Cambria" pitchFamily="34" charset="0"/>
                <a:ea typeface="Cambria" pitchFamily="34" charset="-122"/>
                <a:cs typeface="Cambria" pitchFamily="34" charset="-120"/>
              </a:rPr>
              <a:t>Medicine treats one person at a time. This field asks a bigger question: how do we stop the illness before it starts?</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Public Health Officer / Epidemiologist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Clinical or Counselling Psychologist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Social Worker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Community Health Programme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Occupational Therapist</a:t>
            </a:r>
            <a:endParaRPr lang="en-US" sz="1400" dirty="0"/>
          </a:p>
        </p:txBody>
      </p:sp>
      <p:sp>
        <p:nvSpPr>
          <p:cNvPr id="13" name="Shape 11"/>
          <p:cNvSpPr/>
          <p:nvPr/>
        </p:nvSpPr>
        <p:spPr>
          <a:xfrm>
            <a:off x="4114800" y="3886200"/>
            <a:ext cx="7589520" cy="1874520"/>
          </a:xfrm>
          <a:prstGeom prst="roundRect">
            <a:avLst>
              <a:gd name="adj" fmla="val 2927"/>
            </a:avLst>
          </a:prstGeom>
          <a:solidFill>
            <a:srgbClr val="E8F1F2"/>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1B6E7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them: being brilliant at the frontline is not a ceiling.</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A2  ·  PUBLIC HEALTH &amp; PSYCHOSOCIAL SERVICES  ·  ROOM A2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DF3F4"/>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1B6E7A"/>
                </a:solidFill>
                <a:latin typeface="Cambria" pitchFamily="34" charset="0"/>
                <a:ea typeface="Cambria" pitchFamily="34" charset="-122"/>
                <a:cs typeface="Cambria" pitchFamily="34" charset="-120"/>
              </a:rPr>
              <a:t>"Medicine treats one person at a time. This field asks a bigger question: how do we stop the illness before it starts?"</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Mental health awareness and demand for counselling is rising fast in Kenya, and population-level health work — clean water, disease prevention, community programmes — quietly saves more lives than any single hospital ward.</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A2  ·  PUBLIC HEALTH &amp; PSYCHOSOCIAL SERVICES  ·  ROOM A2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EFF5F6"/>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Public Health Officer / Epidemiologist</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Population-scale prevention — outbreak response, health policy, community programmes.</a:t>
            </a:r>
            <a:endParaRPr lang="en-US" sz="1200" dirty="0"/>
          </a:p>
        </p:txBody>
      </p:sp>
      <p:sp>
        <p:nvSpPr>
          <p:cNvPr id="9" name="Shape 7"/>
          <p:cNvSpPr/>
          <p:nvPr/>
        </p:nvSpPr>
        <p:spPr>
          <a:xfrm>
            <a:off x="6195060" y="1691640"/>
            <a:ext cx="5417820" cy="1447800"/>
          </a:xfrm>
          <a:prstGeom prst="roundRect">
            <a:avLst>
              <a:gd name="adj" fmla="val 4421"/>
            </a:avLst>
          </a:prstGeom>
          <a:solidFill>
            <a:srgbClr val="EFF5F6"/>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Clinical or Counselling Psychologist</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Licensed, supervised practice; one of the fastest-growing demand areas in Kenyan healthcare right now.</a:t>
            </a:r>
            <a:endParaRPr lang="en-US" sz="1200" dirty="0"/>
          </a:p>
        </p:txBody>
      </p:sp>
      <p:sp>
        <p:nvSpPr>
          <p:cNvPr id="12" name="Shape 10"/>
          <p:cNvSpPr/>
          <p:nvPr/>
        </p:nvSpPr>
        <p:spPr>
          <a:xfrm>
            <a:off x="548640" y="3322320"/>
            <a:ext cx="5417820" cy="1447800"/>
          </a:xfrm>
          <a:prstGeom prst="roundRect">
            <a:avLst>
              <a:gd name="adj" fmla="val 4421"/>
            </a:avLst>
          </a:prstGeom>
          <a:solidFill>
            <a:srgbClr val="EFF5F6"/>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Social Worker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Supports individuals and families through real systems — welfare, child protection, community services.</a:t>
            </a:r>
            <a:endParaRPr lang="en-US" sz="1200" dirty="0"/>
          </a:p>
        </p:txBody>
      </p:sp>
      <p:sp>
        <p:nvSpPr>
          <p:cNvPr id="15" name="Shape 13"/>
          <p:cNvSpPr/>
          <p:nvPr/>
        </p:nvSpPr>
        <p:spPr>
          <a:xfrm>
            <a:off x="6195060" y="3322320"/>
            <a:ext cx="5417820" cy="1447800"/>
          </a:xfrm>
          <a:prstGeom prst="roundRect">
            <a:avLst>
              <a:gd name="adj" fmla="val 4421"/>
            </a:avLst>
          </a:prstGeom>
          <a:solidFill>
            <a:srgbClr val="EFF5F6"/>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Community Health Programme Manager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Runs the on-the-ground programmes that make prevention actually reach people.</a:t>
            </a:r>
            <a:endParaRPr lang="en-US" sz="1200" dirty="0"/>
          </a:p>
        </p:txBody>
      </p:sp>
      <p:sp>
        <p:nvSpPr>
          <p:cNvPr id="18" name="Shape 16"/>
          <p:cNvSpPr/>
          <p:nvPr/>
        </p:nvSpPr>
        <p:spPr>
          <a:xfrm>
            <a:off x="548640" y="4953000"/>
            <a:ext cx="5417820" cy="1447800"/>
          </a:xfrm>
          <a:prstGeom prst="roundRect">
            <a:avLst>
              <a:gd name="adj" fmla="val 4421"/>
            </a:avLst>
          </a:prstGeom>
          <a:solidFill>
            <a:srgbClr val="EFF5F6"/>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Occupational Therapist</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Helps people regain independence after illness or injury — under-recognised, genuinely in demand.</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A2  ·  PUBLIC HEALTH &amp; PSYCHOSOCIAL SERVICES  ·  ROOM A2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1B6E7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Public health works at population scale; psychology/counselling works one-on-one; social work supports people through systems — name how they overlap constantly in real cases.</a:t>
            </a:r>
            <a:endParaRPr lang="en-US" sz="1400" dirty="0"/>
          </a:p>
        </p:txBody>
      </p:sp>
      <p:sp>
        <p:nvSpPr>
          <p:cNvPr id="9" name="Shape 7"/>
          <p:cNvSpPr/>
          <p:nvPr/>
        </p:nvSpPr>
        <p:spPr>
          <a:xfrm>
            <a:off x="548640" y="3264408"/>
            <a:ext cx="402336" cy="402336"/>
          </a:xfrm>
          <a:prstGeom prst="ellipse">
            <a:avLst/>
          </a:prstGeom>
          <a:solidFill>
            <a:srgbClr val="1B6E7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 candid about emotional labour, and model your own boundaries and support systems — that's a lesson in itself.</a:t>
            </a:r>
            <a:endParaRPr lang="en-US" sz="1400" dirty="0"/>
          </a:p>
        </p:txBody>
      </p:sp>
      <p:sp>
        <p:nvSpPr>
          <p:cNvPr id="12" name="Shape 10"/>
          <p:cNvSpPr/>
          <p:nvPr/>
        </p:nvSpPr>
        <p:spPr>
          <a:xfrm>
            <a:off x="548640" y="4471416"/>
            <a:ext cx="402336" cy="402336"/>
          </a:xfrm>
          <a:prstGeom prst="ellipse">
            <a:avLst/>
          </a:prstGeom>
          <a:solidFill>
            <a:srgbClr val="1B6E7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NGO, government, and private-sector roles all exist here, from community programmes to hospital counselling to national policy research.</a:t>
            </a:r>
            <a:endParaRPr lang="en-US" sz="1400" dirty="0"/>
          </a:p>
        </p:txBody>
      </p:sp>
      <p:sp>
        <p:nvSpPr>
          <p:cNvPr id="15" name="Shape 13"/>
          <p:cNvSpPr/>
          <p:nvPr/>
        </p:nvSpPr>
        <p:spPr>
          <a:xfrm>
            <a:off x="548640" y="5678424"/>
            <a:ext cx="402336" cy="402336"/>
          </a:xfrm>
          <a:prstGeom prst="ellipse">
            <a:avLst/>
          </a:prstGeom>
          <a:solidFill>
            <a:srgbClr val="1B6E7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field needs strong listeners and rigorous systems-thinkers in equal measure — you don't have to choose between caring and being analytical.</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6F7"/>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A2  ·  PUBLIC HEALTH &amp; PSYCHOSOCIAL SERVICES  ·  ROOM A2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1B6E7A"/>
                </a:solidFill>
                <a:latin typeface="Cambria" pitchFamily="34" charset="0"/>
                <a:ea typeface="Cambria" pitchFamily="34" charset="-122"/>
                <a:cs typeface="Cambria" pitchFamily="34" charset="-120"/>
              </a:rPr>
              <a:t>lead the field, not just staff it</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This is one of the few health fields where women aren't a minority — most nurses, counsellors, and community health workers in Kenya are women. But look at who runs the ministries, the big NGOs, the national health policy tables, and the balance shifts again. The pattern isn't 'women can't lead here' — it's that women are often the ones doing the work while men are handed the platforms to speak about it. Tell them: being brilliant at the frontline is not a ceiling. Aim for the programme director's chair, the policy table, the ministry post — the sector needs you there as much as it needs you in the clinic.</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A2  ·  PUBLIC HEALTH &amp; PSYCHOSOCIAL SERVICES  ·  ROOM A2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EFF5F6"/>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1B6E7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Present a short, simplified case (a family facing a specific hardship) and ask groups what a public health worker, a psychologist, and a social worker would each do differently — and where their work would meet.</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1B6E7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protect your own mental health doing this work?</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case that changed how you see this field?</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Where are women underrepresented in this field's leadership, and why do you think that is?</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A2  ·  PUBLIC HEALTH &amp; PSYCHOSOCIAL SERVICES  ·  ROOM A2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1B6E7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notice one moment where really listening — not just responding — to someone changed the outcome. That instinct is the whole foundation of this field.</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An anonymised, simplified case example</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Any relevant printed resource (a helpline card, a programme brochure)</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A2 — Public Health &amp; Psychosocial Services.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B6E7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A</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Health, Medicine &amp; Human Performance</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8DB7BD"/>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A3</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Sports Science &amp; Physical Fitness</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A3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1B6E7A"/>
                </a:solidFill>
                <a:latin typeface="Cambria" pitchFamily="34" charset="0"/>
                <a:ea typeface="Cambria" pitchFamily="34" charset="-122"/>
                <a:cs typeface="Cambria" pitchFamily="34" charset="-120"/>
              </a:rPr>
              <a:t>Kenya is a global name in athletics. The world rarely talks about everyone who makes that possible off the track.</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Professional Athlete</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Coach / Trainer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Sports Physiotherapist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Sports Scientist / Performance Analyst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Sports Administrator / Federation Manager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8F1F2"/>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1B6E7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them: if you love this world, don't limit your ambition to the finish line — aim to be the coach, the sports scientist, the federation president shaping who gets that support next.</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A3  ·  SPORTS SCIENCE &amp; PHYSICAL FITNESS  ·  ROOM A3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DF3F4"/>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1B6E7A"/>
                </a:solidFill>
                <a:latin typeface="Cambria" pitchFamily="34" charset="0"/>
                <a:ea typeface="Cambria" pitchFamily="34" charset="-122"/>
                <a:cs typeface="Cambria" pitchFamily="34" charset="-120"/>
              </a:rPr>
              <a:t>"Kenya is a global name in athletics. The world rarely talks about everyone who makes that possible off the track."</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Behind every Kenyan record is a coach, a physiotherapist, a nutritionist, and a sports scientist — an entire ecosystem of careers most students never hear named.</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A3  ·  SPORTS SCIENCE &amp; PHYSICAL FITNESS  ·  ROOM A3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EFF5F6"/>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Professional Athlete</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One visible path among many — talk honestly about career length and what comes after.</a:t>
            </a:r>
            <a:endParaRPr lang="en-US" sz="1200" dirty="0"/>
          </a:p>
        </p:txBody>
      </p:sp>
      <p:sp>
        <p:nvSpPr>
          <p:cNvPr id="9" name="Shape 7"/>
          <p:cNvSpPr/>
          <p:nvPr/>
        </p:nvSpPr>
        <p:spPr>
          <a:xfrm>
            <a:off x="6195060" y="1691640"/>
            <a:ext cx="5417820" cy="1447800"/>
          </a:xfrm>
          <a:prstGeom prst="roundRect">
            <a:avLst>
              <a:gd name="adj" fmla="val 4421"/>
            </a:avLst>
          </a:prstGeom>
          <a:solidFill>
            <a:srgbClr val="EFF5F6"/>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Coach / Trainer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Certifiable, structured career track — not something you fall into, something you train for.</a:t>
            </a:r>
            <a:endParaRPr lang="en-US" sz="1200" dirty="0"/>
          </a:p>
        </p:txBody>
      </p:sp>
      <p:sp>
        <p:nvSpPr>
          <p:cNvPr id="12" name="Shape 10"/>
          <p:cNvSpPr/>
          <p:nvPr/>
        </p:nvSpPr>
        <p:spPr>
          <a:xfrm>
            <a:off x="548640" y="3322320"/>
            <a:ext cx="5417820" cy="1447800"/>
          </a:xfrm>
          <a:prstGeom prst="roundRect">
            <a:avLst>
              <a:gd name="adj" fmla="val 4421"/>
            </a:avLst>
          </a:prstGeom>
          <a:solidFill>
            <a:srgbClr val="EFF5F6"/>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Sports Physiotherapist</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Combines medical training with sport-specific rehabilitation — steady, specialised demand.</a:t>
            </a:r>
            <a:endParaRPr lang="en-US" sz="1200" dirty="0"/>
          </a:p>
        </p:txBody>
      </p:sp>
      <p:sp>
        <p:nvSpPr>
          <p:cNvPr id="15" name="Shape 13"/>
          <p:cNvSpPr/>
          <p:nvPr/>
        </p:nvSpPr>
        <p:spPr>
          <a:xfrm>
            <a:off x="6195060" y="3322320"/>
            <a:ext cx="5417820" cy="1447800"/>
          </a:xfrm>
          <a:prstGeom prst="roundRect">
            <a:avLst>
              <a:gd name="adj" fmla="val 4421"/>
            </a:avLst>
          </a:prstGeom>
          <a:solidFill>
            <a:srgbClr val="EFF5F6"/>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Sports Scientist / Performance Analyst</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Data and physiology behind performance gains — a growing, under-filled niche.</a:t>
            </a:r>
            <a:endParaRPr lang="en-US" sz="1200" dirty="0"/>
          </a:p>
        </p:txBody>
      </p:sp>
      <p:sp>
        <p:nvSpPr>
          <p:cNvPr id="18" name="Shape 16"/>
          <p:cNvSpPr/>
          <p:nvPr/>
        </p:nvSpPr>
        <p:spPr>
          <a:xfrm>
            <a:off x="548640" y="4953000"/>
            <a:ext cx="5417820" cy="1447800"/>
          </a:xfrm>
          <a:prstGeom prst="roundRect">
            <a:avLst>
              <a:gd name="adj" fmla="val 4421"/>
            </a:avLst>
          </a:prstGeom>
          <a:solidFill>
            <a:srgbClr val="EFF5F6"/>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1B6E7A"/>
                </a:solidFill>
                <a:latin typeface="Calibri" pitchFamily="34" charset="0"/>
                <a:ea typeface="Calibri" pitchFamily="34" charset="-122"/>
                <a:cs typeface="Calibri" pitchFamily="34" charset="-120"/>
              </a:rPr>
              <a:t>Sports Administrator / Federation Manager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Runs the leagues, events, and sponsorships that make competitive sport possible.</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A3  ·  SPORTS SCIENCE &amp; PHYSICAL FITNESS  ·  ROOM A3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1B6E7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Being a professional athlete is one path among several equally real careers — coaching, sports science, physiotherapy, and administration all sit alongside it.</a:t>
            </a:r>
            <a:endParaRPr lang="en-US" sz="1400" dirty="0"/>
          </a:p>
        </p:txBody>
      </p:sp>
      <p:sp>
        <p:nvSpPr>
          <p:cNvPr id="9" name="Shape 7"/>
          <p:cNvSpPr/>
          <p:nvPr/>
        </p:nvSpPr>
        <p:spPr>
          <a:xfrm>
            <a:off x="548640" y="3264408"/>
            <a:ext cx="402336" cy="402336"/>
          </a:xfrm>
          <a:prstGeom prst="ellipse">
            <a:avLst/>
          </a:prstGeom>
          <a:solidFill>
            <a:srgbClr val="1B6E7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 honest about the physical toll and career length of performance paths, and how athletes plan deliberately for what comes next.</a:t>
            </a:r>
            <a:endParaRPr lang="en-US" sz="1400" dirty="0"/>
          </a:p>
        </p:txBody>
      </p:sp>
      <p:sp>
        <p:nvSpPr>
          <p:cNvPr id="12" name="Shape 10"/>
          <p:cNvSpPr/>
          <p:nvPr/>
        </p:nvSpPr>
        <p:spPr>
          <a:xfrm>
            <a:off x="548640" y="4471416"/>
            <a:ext cx="402336" cy="402336"/>
          </a:xfrm>
          <a:prstGeom prst="ellipse">
            <a:avLst/>
          </a:prstGeom>
          <a:solidFill>
            <a:srgbClr val="1B6E7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Discipline and resilience after losing are the transferable skills this field builds — valuable everywhere, not just in sport.</a:t>
            </a:r>
            <a:endParaRPr lang="en-US" sz="1400" dirty="0"/>
          </a:p>
        </p:txBody>
      </p:sp>
      <p:sp>
        <p:nvSpPr>
          <p:cNvPr id="15" name="Shape 13"/>
          <p:cNvSpPr/>
          <p:nvPr/>
        </p:nvSpPr>
        <p:spPr>
          <a:xfrm>
            <a:off x="548640" y="5678424"/>
            <a:ext cx="402336" cy="402336"/>
          </a:xfrm>
          <a:prstGeom prst="ellipse">
            <a:avLst/>
          </a:prstGeom>
          <a:solidFill>
            <a:srgbClr val="1B6E7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Fitness entrepreneurship (personal training, studios, wellness coaching) is a real, accessible entry point that can start small.</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F6F7"/>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A3  ·  SPORTS SCIENCE &amp; PHYSICAL FITNESS  ·  ROOM A3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1B6E7A"/>
                </a:solidFill>
                <a:latin typeface="Cambria" pitchFamily="34" charset="0"/>
                <a:ea typeface="Cambria" pitchFamily="34" charset="-122"/>
                <a:cs typeface="Cambria" pitchFamily="34" charset="-120"/>
              </a:rPr>
              <a:t>coach it, manage it, own it — not just play it</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Kenyan women have carried this country's name on the world stage for decades — Tegla Loroupe, Faith Kipyegon, and generations before and after them. And yet girls' school sport is still routinely under-resourced compared to boys', and the coaches, sports scientists, and federation leaders around elite Kenyan athletes remain overwhelmingly male. The athletic talent was never the question. The question was always who got the funding, the facilities, and the coaching pipeline. Tell them: if you love this world, don't limit your ambition to the finish line — aim to be the coach, the sports scientist, the federation president shaping who gets that support next.</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A3  ·  SPORTS SCIENCE &amp; PHYSICAL FITNESS  ·  ROOM A3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EFF5F6"/>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1B6E7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Run a 3-minute team-tactics puzzle (e.g. '1-0 down, 10 minutes left — what's your move?') or a quick group movement drill, then connect it to decision-making under pressure.</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1B6E7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plan for life after a performance career ends?</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loss or setback that taught you the most?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Where do you see the biggest gap in support for girls' sport right now?</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1B6E7A"/>
                </a:solidFill>
                <a:latin typeface="Calibri" pitchFamily="34" charset="0"/>
                <a:ea typeface="Calibri" pitchFamily="34" charset="-122"/>
                <a:cs typeface="Calibri" pitchFamily="34" charset="-120"/>
              </a:rPr>
              <a:t>A3  ·  SPORTS SCIENCE &amp; PHYSICAL FITNESS  ·  ROOM A3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1B6E7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identify one role 'around' sport — coaching, physio, sports admin — you'd never considered, and look up what training it needs.</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Kit, medal, or equipment prop to show</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short highlight clip or photo if available</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A3 — Sports Science &amp; Physical Fitness.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7D32"/>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B</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Engineering, Earth &amp; Life Sciences (STEM)</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7BE99"/>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B1</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Computing, Data &amp; Cyber Sciences</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B1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E7D32"/>
                </a:solidFill>
                <a:latin typeface="Cambria" pitchFamily="34" charset="0"/>
                <a:ea typeface="Cambria" pitchFamily="34" charset="-122"/>
                <a:cs typeface="Cambria" pitchFamily="34" charset="-120"/>
              </a:rPr>
              <a:t>Every app, every algorithm, every 'how did they know I'd want that' moment — someone your age is building the next one right now.</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Software Engineer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Data Scientist / Analyst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AI / Machine Learning Engineer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Cybersecurity Analyst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Systems / Network Administrator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F2EB"/>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If it interests you, that's the whole qualification you need to start. Find the other girls doing it — increasingly, in Kenya, there are many — and build alongside them.</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B1  ·  COMPUTING, DATA &amp; CYBER SCIENCES  ·  ROOM B1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5EF"/>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E7D32"/>
                </a:solidFill>
                <a:latin typeface="Cambria" pitchFamily="34" charset="0"/>
                <a:ea typeface="Cambria" pitchFamily="34" charset="-122"/>
                <a:cs typeface="Cambria" pitchFamily="34" charset="-120"/>
              </a:rPr>
              <a:t>"Every app, every algorithm, every 'how did they know I'd want that' moment — someone your age is building the next one right now."</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Kenya's tech sector — Silicon Savannah — is genuinely hiring for software, data, and cybersecurity talent today, not someday.</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B1  ·  COMPUTING, DATA &amp; CYBER SCIENCES  ·  ROOM B1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0F6F1"/>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Software Engineer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Builds the products — apps, platforms, systems people use daily.</a:t>
            </a:r>
            <a:endParaRPr lang="en-US" sz="1200" dirty="0"/>
          </a:p>
        </p:txBody>
      </p:sp>
      <p:sp>
        <p:nvSpPr>
          <p:cNvPr id="9" name="Shape 7"/>
          <p:cNvSpPr/>
          <p:nvPr/>
        </p:nvSpPr>
        <p:spPr>
          <a:xfrm>
            <a:off x="6195060" y="1691640"/>
            <a:ext cx="5417820" cy="1447800"/>
          </a:xfrm>
          <a:prstGeom prst="roundRect">
            <a:avLst>
              <a:gd name="adj" fmla="val 4421"/>
            </a:avLst>
          </a:prstGeom>
          <a:solidFill>
            <a:srgbClr val="F0F6F1"/>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Data Scientist / Analyst</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Turns raw data into real decisions — one of the fastest-growing roles anywhere.</a:t>
            </a:r>
            <a:endParaRPr lang="en-US" sz="1200" dirty="0"/>
          </a:p>
        </p:txBody>
      </p:sp>
      <p:sp>
        <p:nvSpPr>
          <p:cNvPr id="12" name="Shape 10"/>
          <p:cNvSpPr/>
          <p:nvPr/>
        </p:nvSpPr>
        <p:spPr>
          <a:xfrm>
            <a:off x="548640" y="3322320"/>
            <a:ext cx="5417820" cy="1447800"/>
          </a:xfrm>
          <a:prstGeom prst="roundRect">
            <a:avLst>
              <a:gd name="adj" fmla="val 4421"/>
            </a:avLst>
          </a:prstGeom>
          <a:solidFill>
            <a:srgbClr val="F0F6F1"/>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AI / Machine Learning Engineer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The layer behind today's most talked-about tech — genuinely new territory to enter early.</a:t>
            </a:r>
            <a:endParaRPr lang="en-US" sz="1200" dirty="0"/>
          </a:p>
        </p:txBody>
      </p:sp>
      <p:sp>
        <p:nvSpPr>
          <p:cNvPr id="15" name="Shape 13"/>
          <p:cNvSpPr/>
          <p:nvPr/>
        </p:nvSpPr>
        <p:spPr>
          <a:xfrm>
            <a:off x="6195060" y="3322320"/>
            <a:ext cx="5417820" cy="1447800"/>
          </a:xfrm>
          <a:prstGeom prst="roundRect">
            <a:avLst>
              <a:gd name="adj" fmla="val 4421"/>
            </a:avLst>
          </a:prstGeom>
          <a:solidFill>
            <a:srgbClr val="F0F6F1"/>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Cybersecurity Analyst</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Protects systems and data — acute, rising demand as everything moves online.</a:t>
            </a:r>
            <a:endParaRPr lang="en-US" sz="1200" dirty="0"/>
          </a:p>
        </p:txBody>
      </p:sp>
      <p:sp>
        <p:nvSpPr>
          <p:cNvPr id="18" name="Shape 16"/>
          <p:cNvSpPr/>
          <p:nvPr/>
        </p:nvSpPr>
        <p:spPr>
          <a:xfrm>
            <a:off x="548640" y="4953000"/>
            <a:ext cx="5417820" cy="1447800"/>
          </a:xfrm>
          <a:prstGeom prst="roundRect">
            <a:avLst>
              <a:gd name="adj" fmla="val 4421"/>
            </a:avLst>
          </a:prstGeom>
          <a:solidFill>
            <a:srgbClr val="F0F6F1"/>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Systems / Network Administrator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Keeps the infrastructure running — steady, essential, often invisible until it breaks.</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B1  ·  COMPUTING, DATA &amp; CYBER SCIENCES  ·  ROOM B1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E7D32"/>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is a family of fields, not one job — software, data, AI, cybersecurity, and infrastructure all need very different (and equally valuable) strengths.</a:t>
            </a:r>
            <a:endParaRPr lang="en-US" sz="1400" dirty="0"/>
          </a:p>
        </p:txBody>
      </p:sp>
      <p:sp>
        <p:nvSpPr>
          <p:cNvPr id="9" name="Shape 7"/>
          <p:cNvSpPr/>
          <p:nvPr/>
        </p:nvSpPr>
        <p:spPr>
          <a:xfrm>
            <a:off x="548640" y="3264408"/>
            <a:ext cx="402336" cy="402336"/>
          </a:xfrm>
          <a:prstGeom prst="ellipse">
            <a:avLst/>
          </a:prstGeom>
          <a:solidFill>
            <a:srgbClr val="2E7D32"/>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You don't need to be 'a maths genius' to belong here — persistence through failed code and comfort being wrong before you're right matter more day to day.</a:t>
            </a:r>
            <a:endParaRPr lang="en-US" sz="1400" dirty="0"/>
          </a:p>
        </p:txBody>
      </p:sp>
      <p:sp>
        <p:nvSpPr>
          <p:cNvPr id="12" name="Shape 10"/>
          <p:cNvSpPr/>
          <p:nvPr/>
        </p:nvSpPr>
        <p:spPr>
          <a:xfrm>
            <a:off x="548640" y="4471416"/>
            <a:ext cx="402336" cy="402336"/>
          </a:xfrm>
          <a:prstGeom prst="ellipse">
            <a:avLst/>
          </a:prstGeom>
          <a:solidFill>
            <a:srgbClr val="2E7D32"/>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Entry routes vary hugely: a computer science degree, a shorter technical diploma, or a coding bootcamp — all are legitimate routes in.</a:t>
            </a:r>
            <a:endParaRPr lang="en-US" sz="1400" dirty="0"/>
          </a:p>
        </p:txBody>
      </p:sp>
      <p:sp>
        <p:nvSpPr>
          <p:cNvPr id="15" name="Shape 13"/>
          <p:cNvSpPr/>
          <p:nvPr/>
        </p:nvSpPr>
        <p:spPr>
          <a:xfrm>
            <a:off x="548640" y="5678424"/>
            <a:ext cx="402336" cy="402336"/>
          </a:xfrm>
          <a:prstGeom prst="ellipse">
            <a:avLst/>
          </a:prstGeom>
          <a:solidFill>
            <a:srgbClr val="2E7D32"/>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Talk honestly about the unglamorous parts (hours of debugging) next to the genuinely exciting ones (the first time it actually works).</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B1  ·  COMPUTING, DATA &amp; CYBER SCIENCES  ·  ROOM B1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E7D32"/>
                </a:solidFill>
                <a:latin typeface="Cambria" pitchFamily="34" charset="0"/>
                <a:ea typeface="Cambria" pitchFamily="34" charset="-122"/>
                <a:cs typeface="Cambria" pitchFamily="34" charset="-120"/>
              </a:rPr>
              <a:t>the code doesn't know your gender, the room sometimes forgets that</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Women wrote some of computing's founding history — the first computer programmer was a woman, and the first professional coders were women — before the field was later recoded, culturally, as male. Today Kenyan and global tech rooms are still disproportionately male, and it's common for a girl who's genuinely good at this to be the only one in the room, or to be quietly asked if she's 'sure' this is for her. That question has no good answer except: yes. If it interests you, that's the whole qualification you need to start. Find the other girls doing it — increasingly, in Kenya, there are many — and build alongside them.</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B1  ·  COMPUTING, DATA &amp; CYBER SCIENCES  ·  ROOM B1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6F1"/>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A 5-minute live mini-demo: solve a short logic/coding puzzle on a projected laptop, or run a 2-minute physical demo and ask students to predict the outcome before revealing it.</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E7D32"/>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subject you struggled with that turned out to matter most in your career?</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the most misunderstood part of this job?</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Have you ever been the only woman in the room here — what did you do with that?</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B1  ·  COMPUTING, DATA &amp; CYBER SCIENCES  ·  ROOM B1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E7D32"/>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try one small, real coding exercise online (there are excellent free ones) — not to master it, just to feel what it's actually like.</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laptop for a quick live demo</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real code snippet or dataset printout to show</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B1 — Computing, Data &amp; Cyber Sciences.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7D32"/>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B</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Engineering, Earth &amp; Life Sciences (STEM)</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7BE99"/>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B2</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Engineering &amp; Manufacturing</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B2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E7D32"/>
                </a:solidFill>
                <a:latin typeface="Cambria" pitchFamily="34" charset="0"/>
                <a:ea typeface="Cambria" pitchFamily="34" charset="-122"/>
                <a:cs typeface="Cambria" pitchFamily="34" charset="-120"/>
              </a:rPr>
              <a:t>Every bridge, every building, every machine that just works — an engineer decided it should, then made sure it did.</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Civil Engineer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Mechanical Engineer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Electrical / Electronics Engineer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Industrial / Manufacturing Engineer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Chemical Engineer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F2EB"/>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Encourage them to seek out a female engineer to shadow, even briefly — seeing it done is often what makes 'I could do that too' finally feel true.</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B2  ·  ENGINEERING &amp; MANUFACTURING  ·  ROOM B2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5EF"/>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E7D32"/>
                </a:solidFill>
                <a:latin typeface="Cambria" pitchFamily="34" charset="0"/>
                <a:ea typeface="Cambria" pitchFamily="34" charset="-122"/>
                <a:cs typeface="Cambria" pitchFamily="34" charset="-120"/>
              </a:rPr>
              <a:t>"Every bridge, every building, every machine that just works — an engineer decided it should, then made sure it did."</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Kenya's infrastructure and manufacturing growth needs engineers today across every discipline — civil, mechanical, electrical, and industrial.</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B2  ·  ENGINEERING &amp; MANUFACTURING  ·  ROOM B2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0F6F1"/>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Civil Engineer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Roads, bridges, water systems — the physical backbone of a growing country.</a:t>
            </a:r>
            <a:endParaRPr lang="en-US" sz="1200" dirty="0"/>
          </a:p>
        </p:txBody>
      </p:sp>
      <p:sp>
        <p:nvSpPr>
          <p:cNvPr id="9" name="Shape 7"/>
          <p:cNvSpPr/>
          <p:nvPr/>
        </p:nvSpPr>
        <p:spPr>
          <a:xfrm>
            <a:off x="6195060" y="1691640"/>
            <a:ext cx="5417820" cy="1447800"/>
          </a:xfrm>
          <a:prstGeom prst="roundRect">
            <a:avLst>
              <a:gd name="adj" fmla="val 4421"/>
            </a:avLst>
          </a:prstGeom>
          <a:solidFill>
            <a:srgbClr val="F0F6F1"/>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Mechanical Engineer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Designs and builds machines and systems across nearly every industry.</a:t>
            </a:r>
            <a:endParaRPr lang="en-US" sz="1200" dirty="0"/>
          </a:p>
        </p:txBody>
      </p:sp>
      <p:sp>
        <p:nvSpPr>
          <p:cNvPr id="12" name="Shape 10"/>
          <p:cNvSpPr/>
          <p:nvPr/>
        </p:nvSpPr>
        <p:spPr>
          <a:xfrm>
            <a:off x="548640" y="3322320"/>
            <a:ext cx="5417820" cy="1447800"/>
          </a:xfrm>
          <a:prstGeom prst="roundRect">
            <a:avLst>
              <a:gd name="adj" fmla="val 4421"/>
            </a:avLst>
          </a:prstGeom>
          <a:solidFill>
            <a:srgbClr val="F0F6F1"/>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Electrical / Electronics Engineer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Powers everything from the national grid to the device in your pocket.</a:t>
            </a:r>
            <a:endParaRPr lang="en-US" sz="1200" dirty="0"/>
          </a:p>
        </p:txBody>
      </p:sp>
      <p:sp>
        <p:nvSpPr>
          <p:cNvPr id="15" name="Shape 13"/>
          <p:cNvSpPr/>
          <p:nvPr/>
        </p:nvSpPr>
        <p:spPr>
          <a:xfrm>
            <a:off x="6195060" y="3322320"/>
            <a:ext cx="5417820" cy="1447800"/>
          </a:xfrm>
          <a:prstGeom prst="roundRect">
            <a:avLst>
              <a:gd name="adj" fmla="val 4421"/>
            </a:avLst>
          </a:prstGeom>
          <a:solidFill>
            <a:srgbClr val="F0F6F1"/>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Industrial / Manufacturing Engineer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Makes production genuinely efficient, safe, and scalable — high local demand.</a:t>
            </a:r>
            <a:endParaRPr lang="en-US" sz="1200" dirty="0"/>
          </a:p>
        </p:txBody>
      </p:sp>
      <p:sp>
        <p:nvSpPr>
          <p:cNvPr id="18" name="Shape 16"/>
          <p:cNvSpPr/>
          <p:nvPr/>
        </p:nvSpPr>
        <p:spPr>
          <a:xfrm>
            <a:off x="548640" y="4953000"/>
            <a:ext cx="5417820" cy="1447800"/>
          </a:xfrm>
          <a:prstGeom prst="roundRect">
            <a:avLst>
              <a:gd name="adj" fmla="val 4421"/>
            </a:avLst>
          </a:prstGeom>
          <a:solidFill>
            <a:srgbClr val="F0F6F1"/>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Chemical Engineer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Bridges chemistry and large-scale production — from food processing to energy.</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B2  ·  ENGINEERING &amp; MANUFACTURING  ·  ROOM B2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E7D32"/>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Engineering is a family of very different disciplines under one name — be specific about which one you practice and why you chose it.</a:t>
            </a:r>
            <a:endParaRPr lang="en-US" sz="1400" dirty="0"/>
          </a:p>
        </p:txBody>
      </p:sp>
      <p:sp>
        <p:nvSpPr>
          <p:cNvPr id="9" name="Shape 7"/>
          <p:cNvSpPr/>
          <p:nvPr/>
        </p:nvSpPr>
        <p:spPr>
          <a:xfrm>
            <a:off x="548640" y="3264408"/>
            <a:ext cx="402336" cy="402336"/>
          </a:xfrm>
          <a:prstGeom prst="ellipse">
            <a:avLst/>
          </a:prstGeom>
          <a:solidFill>
            <a:srgbClr val="2E7D32"/>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Talk honestly about the unglamorous parts — failed prototypes, redesigns — right alongside the moment something finally works.</a:t>
            </a:r>
            <a:endParaRPr lang="en-US" sz="1400" dirty="0"/>
          </a:p>
        </p:txBody>
      </p:sp>
      <p:sp>
        <p:nvSpPr>
          <p:cNvPr id="12" name="Shape 10"/>
          <p:cNvSpPr/>
          <p:nvPr/>
        </p:nvSpPr>
        <p:spPr>
          <a:xfrm>
            <a:off x="548640" y="4471416"/>
            <a:ext cx="402336" cy="402336"/>
          </a:xfrm>
          <a:prstGeom prst="ellipse">
            <a:avLst/>
          </a:prstGeom>
          <a:solidFill>
            <a:srgbClr val="2E7D32"/>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Graduate trainee and internship programmes are real, structured entry points — encourage students to look these up specifically.</a:t>
            </a:r>
            <a:endParaRPr lang="en-US" sz="1400" dirty="0"/>
          </a:p>
        </p:txBody>
      </p:sp>
      <p:sp>
        <p:nvSpPr>
          <p:cNvPr id="15" name="Shape 13"/>
          <p:cNvSpPr/>
          <p:nvPr/>
        </p:nvSpPr>
        <p:spPr>
          <a:xfrm>
            <a:off x="548640" y="5678424"/>
            <a:ext cx="402336" cy="402336"/>
          </a:xfrm>
          <a:prstGeom prst="ellipse">
            <a:avLst/>
          </a:prstGeom>
          <a:solidFill>
            <a:srgbClr val="2E7D32"/>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Cross-disciplinary skill (an engineer who communicates clearly with non-technical people) genuinely stands out early in a career.</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B2  ·  ENGINEERING &amp; MANUFACTURING  ·  ROOM B2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E7D32"/>
                </a:solidFill>
                <a:latin typeface="Cambria" pitchFamily="34" charset="0"/>
                <a:ea typeface="Cambria" pitchFamily="34" charset="-122"/>
                <a:cs typeface="Cambria" pitchFamily="34" charset="-120"/>
              </a:rPr>
              <a:t>a hard hat fits you exactly as well as it fits anyone</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Engineering remains one of the most male-dominated professions in Kenya and globally — women make up a small fraction of practising engineers, not because the work is harder for them, but because for generations almost no one told girls this was a normal thing to want. Site environments and lecture halls can still feel like they were built without you in mind. That discomfort is real, and it is not a sign you don't belong — it's a sign the room hasn't caught up yet. Every woman currently practising this profession in Kenya walked into that same discomfort first. Encourage them to seek out a female engineer to shadow, even briefly — seeing it done is often what makes 'I could do that too' finally feel true.</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B2  ·  ENGINEERING &amp; MANUFACTURING  ·  ROOM B2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6F1"/>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Give groups a simple constraint-based challenge (e.g. 'keep a vaccine fridge cold for 24 hours with no electricity, using 3 given materials') and 4 minutes to sketch an approach.</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E7D32"/>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does a typical project timeline look like, start to finish?</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project that didn't work, and what did you learn?</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was it like being one of few women in your engineering class?</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B2  ·  ENGINEERING &amp; MANUFACTURING  ·  ROOM B2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E7D32"/>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research one real infrastructure or manufacturing project in Kenya and try to name three engineering disciplines it would have needed.</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physical component or product sample if available</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short case study or project photo to show</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B2 — Engineering &amp; Manufacturing.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7D32"/>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B</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Engineering, Earth &amp; Life Sciences (STEM)</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7BE99"/>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B3</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Earth Sciences, Energy &amp; Mining</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B3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E7D32"/>
                </a:solidFill>
                <a:latin typeface="Cambria" pitchFamily="34" charset="0"/>
                <a:ea typeface="Cambria" pitchFamily="34" charset="-122"/>
                <a:cs typeface="Cambria" pitchFamily="34" charset="-120"/>
              </a:rPr>
              <a:t>What's under the ground and what powers the grid above it — both are careers, and both are wide open right now.</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Geologist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Petroleum / Mining Engineer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Renewable Energy Engineer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Meteorologist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Hydrologist</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F2EB"/>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Ask directly what the barriers actually are today rather than accepting an old answer about what 'wasn't done' — often, it's already changed.</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B3  ·  EARTH SCIENCES, ENERGY &amp; MINING  ·  ROOM B3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5EF"/>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E7D32"/>
                </a:solidFill>
                <a:latin typeface="Cambria" pitchFamily="34" charset="0"/>
                <a:ea typeface="Cambria" pitchFamily="34" charset="-122"/>
                <a:cs typeface="Cambria" pitchFamily="34" charset="-120"/>
              </a:rPr>
              <a:t>"What's under the ground and what powers the grid above it — both are careers, and both are wide open right now."</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Kenya's renewable energy sector (geothermal, wind, solar) is a genuine world leader on the continent, and resource sciences underpin nearly every part of the economy.</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B3  ·  EARTH SCIENCES, ENERGY &amp; MINING  ·  ROOM B3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0F6F1"/>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Geologist</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Studies the earth's structure and resources — fieldwork plus real analytical depth.</a:t>
            </a:r>
            <a:endParaRPr lang="en-US" sz="1200" dirty="0"/>
          </a:p>
        </p:txBody>
      </p:sp>
      <p:sp>
        <p:nvSpPr>
          <p:cNvPr id="9" name="Shape 7"/>
          <p:cNvSpPr/>
          <p:nvPr/>
        </p:nvSpPr>
        <p:spPr>
          <a:xfrm>
            <a:off x="6195060" y="1691640"/>
            <a:ext cx="5417820" cy="1447800"/>
          </a:xfrm>
          <a:prstGeom prst="roundRect">
            <a:avLst>
              <a:gd name="adj" fmla="val 4421"/>
            </a:avLst>
          </a:prstGeom>
          <a:solidFill>
            <a:srgbClr val="F0F6F1"/>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Petroleum / Mining Engineer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Extracts and manages natural resources responsibly and efficiently.</a:t>
            </a:r>
            <a:endParaRPr lang="en-US" sz="1200" dirty="0"/>
          </a:p>
        </p:txBody>
      </p:sp>
      <p:sp>
        <p:nvSpPr>
          <p:cNvPr id="12" name="Shape 10"/>
          <p:cNvSpPr/>
          <p:nvPr/>
        </p:nvSpPr>
        <p:spPr>
          <a:xfrm>
            <a:off x="548640" y="3322320"/>
            <a:ext cx="5417820" cy="1447800"/>
          </a:xfrm>
          <a:prstGeom prst="roundRect">
            <a:avLst>
              <a:gd name="adj" fmla="val 4421"/>
            </a:avLst>
          </a:prstGeom>
          <a:solidFill>
            <a:srgbClr val="F0F6F1"/>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Renewable Energy Engineer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Geothermal, wind, and solar — Kenya is a genuine global leader here.</a:t>
            </a:r>
            <a:endParaRPr lang="en-US" sz="1200" dirty="0"/>
          </a:p>
        </p:txBody>
      </p:sp>
      <p:sp>
        <p:nvSpPr>
          <p:cNvPr id="15" name="Shape 13"/>
          <p:cNvSpPr/>
          <p:nvPr/>
        </p:nvSpPr>
        <p:spPr>
          <a:xfrm>
            <a:off x="6195060" y="3322320"/>
            <a:ext cx="5417820" cy="1447800"/>
          </a:xfrm>
          <a:prstGeom prst="roundRect">
            <a:avLst>
              <a:gd name="adj" fmla="val 4421"/>
            </a:avLst>
          </a:prstGeom>
          <a:solidFill>
            <a:srgbClr val="F0F6F1"/>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Meteorologist</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Forecasts weather and climate patterns — increasingly vital as climate shifts.</a:t>
            </a:r>
            <a:endParaRPr lang="en-US" sz="1200" dirty="0"/>
          </a:p>
        </p:txBody>
      </p:sp>
      <p:sp>
        <p:nvSpPr>
          <p:cNvPr id="18" name="Shape 16"/>
          <p:cNvSpPr/>
          <p:nvPr/>
        </p:nvSpPr>
        <p:spPr>
          <a:xfrm>
            <a:off x="548640" y="4953000"/>
            <a:ext cx="5417820" cy="1447800"/>
          </a:xfrm>
          <a:prstGeom prst="roundRect">
            <a:avLst>
              <a:gd name="adj" fmla="val 4421"/>
            </a:avLst>
          </a:prstGeom>
          <a:solidFill>
            <a:srgbClr val="F0F6F1"/>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Hydrologist</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Manages water resources — critical, chronically under-filled expertise.</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B3  ·  EARTH SCIENCES, ENERGY &amp; MINING  ·  ROOM B3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E7D32"/>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Kenya's geothermal energy sector is one of the most advanced in the world — a genuinely strong, local example of leadership in this field.</a:t>
            </a:r>
            <a:endParaRPr lang="en-US" sz="1400" dirty="0"/>
          </a:p>
        </p:txBody>
      </p:sp>
      <p:sp>
        <p:nvSpPr>
          <p:cNvPr id="9" name="Shape 7"/>
          <p:cNvSpPr/>
          <p:nvPr/>
        </p:nvSpPr>
        <p:spPr>
          <a:xfrm>
            <a:off x="548640" y="3264408"/>
            <a:ext cx="402336" cy="402336"/>
          </a:xfrm>
          <a:prstGeom prst="ellipse">
            <a:avLst/>
          </a:prstGeom>
          <a:solidFill>
            <a:srgbClr val="2E7D32"/>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field mixes fieldwork (sometimes remote, physically demanding) with serious lab and data analysis — both realities belong in the same talk.</a:t>
            </a:r>
            <a:endParaRPr lang="en-US" sz="1400" dirty="0"/>
          </a:p>
        </p:txBody>
      </p:sp>
      <p:sp>
        <p:nvSpPr>
          <p:cNvPr id="12" name="Shape 10"/>
          <p:cNvSpPr/>
          <p:nvPr/>
        </p:nvSpPr>
        <p:spPr>
          <a:xfrm>
            <a:off x="548640" y="4471416"/>
            <a:ext cx="402336" cy="402336"/>
          </a:xfrm>
          <a:prstGeom prst="ellipse">
            <a:avLst/>
          </a:prstGeom>
          <a:solidFill>
            <a:srgbClr val="2E7D32"/>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Resource management increasingly means balancing extraction with sustainability — a real, current professional tension worth naming honestly.</a:t>
            </a:r>
            <a:endParaRPr lang="en-US" sz="1400" dirty="0"/>
          </a:p>
        </p:txBody>
      </p:sp>
      <p:sp>
        <p:nvSpPr>
          <p:cNvPr id="15" name="Shape 13"/>
          <p:cNvSpPr/>
          <p:nvPr/>
        </p:nvSpPr>
        <p:spPr>
          <a:xfrm>
            <a:off x="548640" y="5678424"/>
            <a:ext cx="402336" cy="402336"/>
          </a:xfrm>
          <a:prstGeom prst="ellipse">
            <a:avLst/>
          </a:prstGeom>
          <a:solidFill>
            <a:srgbClr val="2E7D32"/>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Entry routes: earth science/geology/engineering degrees, plus specialised certifications in energy or mining specifically.</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B3  ·  EARTH SCIENCES, ENERGY &amp; MINING  ·  ROOM B3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E7D32"/>
                </a:solidFill>
                <a:latin typeface="Cambria" pitchFamily="34" charset="0"/>
                <a:ea typeface="Cambria" pitchFamily="34" charset="-122"/>
                <a:cs typeface="Cambria" pitchFamily="34" charset="-120"/>
              </a:rPr>
              <a:t>fieldwork was never actually the problem, access was</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For decades, women were quietly kept out of geology and mining fieldwork on the assumption that remote sites, physical conditions, or long postings 'weren't suitable' for them — a decision almost never made by asking the women themselves. Kenya's renewable energy sector, especially geothermal, has genuinely opened faster to women than older extractive industries, and that shift proves the old assumption was about access, not ability. If a field posting or a technical energy role interests you, ask directly what the barriers actually are today rather than accepting an old answer about what 'wasn't done.' Often, it's already changed.</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B3  ·  EARTH SCIENCES, ENERGY &amp; MINING  ·  ROOM B3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6F1"/>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Present a simple land-use or resource tradeoff scenario and have groups propose a balanced solution in three minutes.</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E7D32"/>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does fieldwork actually involve, realistically?</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the hardest tradeoff you've had to help navigate?</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has this field opened up for women in the time you've worked in it?</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B3  ·  EARTH SCIENCES, ENERGY &amp; MINING  ·  ROOM B3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E7D32"/>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look up one Kenyan energy project (geothermal, wind, or solar) and identify what kind of scientist or engineer it would have needed.</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field sample or photo if available</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simple energy-project case to discuss</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B3 — Earth Sciences, Energy &amp; Mining.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7D32"/>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B</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Engineering, Earth &amp; Life Sciences (STEM)</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7BE99"/>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B4</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Environment &amp; Conservation</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B4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E7D32"/>
                </a:solidFill>
                <a:latin typeface="Cambria" pitchFamily="34" charset="0"/>
                <a:ea typeface="Cambria" pitchFamily="34" charset="-122"/>
                <a:cs typeface="Cambria" pitchFamily="34" charset="-120"/>
              </a:rPr>
              <a:t>Kenya didn't just inherit its wildlife and landscapes — generations have actively fought to keep them, and that fight needs its next generation now.</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Environmental Scientist / Researcher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Wildlife / Conservation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Natural Resource / Land Use Planner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Environmental Policy Analyst or Lawyer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Corporate Sustainability Officer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F2EB"/>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them: the path Professor Maathai walked is still open, and it starts exactly the way hers did — caring enough about one real problem to act on it.</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B4  ·  ENVIRONMENT &amp; CONSERVATION  ·  ROOM B4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5EF"/>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E7D32"/>
                </a:solidFill>
                <a:latin typeface="Cambria" pitchFamily="34" charset="0"/>
                <a:ea typeface="Cambria" pitchFamily="34" charset="-122"/>
                <a:cs typeface="Cambria" pitchFamily="34" charset="-120"/>
              </a:rPr>
              <a:t>"Kenya didn't just inherit its wildlife and landscapes — generations have actively fought to keep them, and that fight needs its next generation now."</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Kenya is a global conservation and biodiversity leader, and climate resilience work here has real, visible, local stakes.</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B4  ·  ENVIRONMENT &amp; CONSERVATION  ·  ROOM B4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0F6F1"/>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Environmental Scientist / Researcher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Studies ecosystems and environmental change — the evidence behind every policy.</a:t>
            </a:r>
            <a:endParaRPr lang="en-US" sz="1200" dirty="0"/>
          </a:p>
        </p:txBody>
      </p:sp>
      <p:sp>
        <p:nvSpPr>
          <p:cNvPr id="9" name="Shape 7"/>
          <p:cNvSpPr/>
          <p:nvPr/>
        </p:nvSpPr>
        <p:spPr>
          <a:xfrm>
            <a:off x="6195060" y="1691640"/>
            <a:ext cx="5417820" cy="1447800"/>
          </a:xfrm>
          <a:prstGeom prst="roundRect">
            <a:avLst>
              <a:gd name="adj" fmla="val 4421"/>
            </a:avLst>
          </a:prstGeom>
          <a:solidFill>
            <a:srgbClr val="F0F6F1"/>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Wildlife / Conservation Manager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Manages parks, conservancies, and species-protection programmes directly.</a:t>
            </a:r>
            <a:endParaRPr lang="en-US" sz="1200" dirty="0"/>
          </a:p>
        </p:txBody>
      </p:sp>
      <p:sp>
        <p:nvSpPr>
          <p:cNvPr id="12" name="Shape 10"/>
          <p:cNvSpPr/>
          <p:nvPr/>
        </p:nvSpPr>
        <p:spPr>
          <a:xfrm>
            <a:off x="548640" y="3322320"/>
            <a:ext cx="5417820" cy="1447800"/>
          </a:xfrm>
          <a:prstGeom prst="roundRect">
            <a:avLst>
              <a:gd name="adj" fmla="val 4421"/>
            </a:avLst>
          </a:prstGeom>
          <a:solidFill>
            <a:srgbClr val="F0F6F1"/>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Natural Resource / Land Use Planner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Balances development and conservation — a genuinely difficult, important skill.</a:t>
            </a:r>
            <a:endParaRPr lang="en-US" sz="1200" dirty="0"/>
          </a:p>
        </p:txBody>
      </p:sp>
      <p:sp>
        <p:nvSpPr>
          <p:cNvPr id="15" name="Shape 13"/>
          <p:cNvSpPr/>
          <p:nvPr/>
        </p:nvSpPr>
        <p:spPr>
          <a:xfrm>
            <a:off x="6195060" y="3322320"/>
            <a:ext cx="5417820" cy="1447800"/>
          </a:xfrm>
          <a:prstGeom prst="roundRect">
            <a:avLst>
              <a:gd name="adj" fmla="val 4421"/>
            </a:avLst>
          </a:prstGeom>
          <a:solidFill>
            <a:srgbClr val="F0F6F1"/>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Environmental Policy Analyst or Lawyer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Under-considered path combining environmental knowledge with law and governance.</a:t>
            </a:r>
            <a:endParaRPr lang="en-US" sz="1200" dirty="0"/>
          </a:p>
        </p:txBody>
      </p:sp>
      <p:sp>
        <p:nvSpPr>
          <p:cNvPr id="18" name="Shape 16"/>
          <p:cNvSpPr/>
          <p:nvPr/>
        </p:nvSpPr>
        <p:spPr>
          <a:xfrm>
            <a:off x="548640" y="4953000"/>
            <a:ext cx="5417820" cy="1447800"/>
          </a:xfrm>
          <a:prstGeom prst="roundRect">
            <a:avLst>
              <a:gd name="adj" fmla="val 4421"/>
            </a:avLst>
          </a:prstGeom>
          <a:solidFill>
            <a:srgbClr val="F0F6F1"/>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Corporate Sustainability Officer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 fast-growing role inside ordinary businesses, not just NGOs.</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B4  ·  ENVIRONMENT &amp; CONSERVATION  ·  ROOM B4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E7D32"/>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field spans hands-on fieldwork through to policy, law, and corporate sustainability roles — very different day-to-day realities under one banner.</a:t>
            </a:r>
            <a:endParaRPr lang="en-US" sz="1400" dirty="0"/>
          </a:p>
        </p:txBody>
      </p:sp>
      <p:sp>
        <p:nvSpPr>
          <p:cNvPr id="9" name="Shape 7"/>
          <p:cNvSpPr/>
          <p:nvPr/>
        </p:nvSpPr>
        <p:spPr>
          <a:xfrm>
            <a:off x="548640" y="3264408"/>
            <a:ext cx="402336" cy="402336"/>
          </a:xfrm>
          <a:prstGeom prst="ellipse">
            <a:avLst/>
          </a:prstGeom>
          <a:solidFill>
            <a:srgbClr val="2E7D32"/>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Kenya's conservation leadership creates real, visible local career opportunities — wildlife management, community conservancies, climate projects.</a:t>
            </a:r>
            <a:endParaRPr lang="en-US" sz="1400" dirty="0"/>
          </a:p>
        </p:txBody>
      </p:sp>
      <p:sp>
        <p:nvSpPr>
          <p:cNvPr id="12" name="Shape 10"/>
          <p:cNvSpPr/>
          <p:nvPr/>
        </p:nvSpPr>
        <p:spPr>
          <a:xfrm>
            <a:off x="548640" y="4471416"/>
            <a:ext cx="402336" cy="402336"/>
          </a:xfrm>
          <a:prstGeom prst="ellipse">
            <a:avLst/>
          </a:prstGeom>
          <a:solidFill>
            <a:srgbClr val="2E7D32"/>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 honest about the tension between economic development and conservation — navigating that tension well is the real skill, not choosing a side.</a:t>
            </a:r>
            <a:endParaRPr lang="en-US" sz="1400" dirty="0"/>
          </a:p>
        </p:txBody>
      </p:sp>
      <p:sp>
        <p:nvSpPr>
          <p:cNvPr id="15" name="Shape 13"/>
          <p:cNvSpPr/>
          <p:nvPr/>
        </p:nvSpPr>
        <p:spPr>
          <a:xfrm>
            <a:off x="548640" y="5678424"/>
            <a:ext cx="402336" cy="402336"/>
          </a:xfrm>
          <a:prstGeom prst="ellipse">
            <a:avLst/>
          </a:prstGeom>
          <a:solidFill>
            <a:srgbClr val="2E7D32"/>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Sustainability roles inside ordinary companies are a fast-growing, less-considered entry point as businesses respond to climate pressure.</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B4  ·  ENVIRONMENT &amp; CONSERVATION  ·  ROOM B4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E7D32"/>
                </a:solidFill>
                <a:latin typeface="Cambria" pitchFamily="34" charset="0"/>
                <a:ea typeface="Cambria" pitchFamily="34" charset="-122"/>
                <a:cs typeface="Cambria" pitchFamily="34" charset="-120"/>
              </a:rPr>
              <a:t>Wangari Maathai already proved what's possible</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Kenya's own Professor Wangari Maathai became the first African woman to win the Nobel Peace Prize, for work that started with something as simple as planting trees — and grew into a movement that shaped how the world thinks about environment, governance, and women's leadership together. That is not a distant, unreachable story; it is proof, from this exact country, that environmental leadership and women's leadership were never separate things. Conservation and environmental science still see fewer women in senior field and policy roles than the work deserves. Tell them: the path Professor Maathai walked is still open, and it starts exactly the way hers did — caring enough about one real problem to act on it.</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B4  ·  ENVIRONMENT &amp; CONSERVATION  ·  ROOM B4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6F1"/>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Present a simple land-use tradeoff scenario (e.g. farmland bordering a wildlife corridor) and have groups propose a balanced solution in three minutes.</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E7D32"/>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the hardest tradeoff you've had to help navigate?</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does fieldwork actually involve, realistically?</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would you tell a girl who wants to follow in Wangari Maathai's footsteps?</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B4  ·  ENVIRONMENT &amp; CONSERVATION  ·  ROOM B4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E7D32"/>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identify one local environmental issue — water, wildlife, waste, or climate — and find out which kind of professional works on it.</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field sample/photo or a simple policy brief excerpt</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Any conservation-programme material if available</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B4 — Environment &amp; Conservation.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7D32"/>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B</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Engineering, Earth &amp; Life Sciences (STEM)</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7BE99"/>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B5</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Agriculture, Food &amp; Agribusiness</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B5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E7D32"/>
                </a:solidFill>
                <a:latin typeface="Cambria" pitchFamily="34" charset="0"/>
                <a:ea typeface="Cambria" pitchFamily="34" charset="-122"/>
                <a:cs typeface="Cambria" pitchFamily="34" charset="-120"/>
              </a:rPr>
              <a:t>Agriculture feeds the country. Agribusiness is what turns that work into real, sustainable careers and wealth.</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Agronomist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Agricultural Economist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Food Scientist / Technologist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Veterinary Doctor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Agribusiness Entrepreneur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F2EB"/>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them plainly: the sector already runs on women's labour.</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B5  ·  AGRICULTURE, FOOD &amp; AGRIBUSINESS  ·  ROOM B5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5EF"/>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E7D32"/>
                </a:solidFill>
                <a:latin typeface="Cambria" pitchFamily="34" charset="0"/>
                <a:ea typeface="Cambria" pitchFamily="34" charset="-122"/>
                <a:cs typeface="Cambria" pitchFamily="34" charset="-120"/>
              </a:rPr>
              <a:t>"Agriculture feeds the country. Agribusiness is what turns that work into real, sustainable careers and wealth."</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Agriculture is one of Kenya's largest economic sectors — and one of the biggest opportunities for young people to modernise it with science, technology, and business skill.</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B5  ·  AGRICULTURE, FOOD &amp; AGRIBUSINESS  ·  ROOM B5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0F6F1"/>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Agronomist</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Improves crop production and soil health using real science.</a:t>
            </a:r>
            <a:endParaRPr lang="en-US" sz="1200" dirty="0"/>
          </a:p>
        </p:txBody>
      </p:sp>
      <p:sp>
        <p:nvSpPr>
          <p:cNvPr id="9" name="Shape 7"/>
          <p:cNvSpPr/>
          <p:nvPr/>
        </p:nvSpPr>
        <p:spPr>
          <a:xfrm>
            <a:off x="6195060" y="1691640"/>
            <a:ext cx="5417820" cy="1447800"/>
          </a:xfrm>
          <a:prstGeom prst="roundRect">
            <a:avLst>
              <a:gd name="adj" fmla="val 4421"/>
            </a:avLst>
          </a:prstGeom>
          <a:solidFill>
            <a:srgbClr val="F0F6F1"/>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Agricultural Economist</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Analyses markets, policy, and value chains — the business brain of the sector.</a:t>
            </a:r>
            <a:endParaRPr lang="en-US" sz="1200" dirty="0"/>
          </a:p>
        </p:txBody>
      </p:sp>
      <p:sp>
        <p:nvSpPr>
          <p:cNvPr id="12" name="Shape 10"/>
          <p:cNvSpPr/>
          <p:nvPr/>
        </p:nvSpPr>
        <p:spPr>
          <a:xfrm>
            <a:off x="548640" y="3322320"/>
            <a:ext cx="5417820" cy="1447800"/>
          </a:xfrm>
          <a:prstGeom prst="roundRect">
            <a:avLst>
              <a:gd name="adj" fmla="val 4421"/>
            </a:avLst>
          </a:prstGeom>
          <a:solidFill>
            <a:srgbClr val="F0F6F1"/>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Food Scientist / Technologist</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Turns raw produce into safe, marketable food products — real growth area.</a:t>
            </a:r>
            <a:endParaRPr lang="en-US" sz="1200" dirty="0"/>
          </a:p>
        </p:txBody>
      </p:sp>
      <p:sp>
        <p:nvSpPr>
          <p:cNvPr id="15" name="Shape 13"/>
          <p:cNvSpPr/>
          <p:nvPr/>
        </p:nvSpPr>
        <p:spPr>
          <a:xfrm>
            <a:off x="6195060" y="3322320"/>
            <a:ext cx="5417820" cy="1447800"/>
          </a:xfrm>
          <a:prstGeom prst="roundRect">
            <a:avLst>
              <a:gd name="adj" fmla="val 4421"/>
            </a:avLst>
          </a:prstGeom>
          <a:solidFill>
            <a:srgbClr val="F0F6F1"/>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Veterinary Doctor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 full medical profession focused on livestock and animal health.</a:t>
            </a:r>
            <a:endParaRPr lang="en-US" sz="1200" dirty="0"/>
          </a:p>
        </p:txBody>
      </p:sp>
      <p:sp>
        <p:nvSpPr>
          <p:cNvPr id="18" name="Shape 16"/>
          <p:cNvSpPr/>
          <p:nvPr/>
        </p:nvSpPr>
        <p:spPr>
          <a:xfrm>
            <a:off x="548640" y="4953000"/>
            <a:ext cx="5417820" cy="1447800"/>
          </a:xfrm>
          <a:prstGeom prst="roundRect">
            <a:avLst>
              <a:gd name="adj" fmla="val 4421"/>
            </a:avLst>
          </a:prstGeom>
          <a:solidFill>
            <a:srgbClr val="F0F6F1"/>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Agribusiness Entrepreneur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Builds real businesses across farming, processing, and distribution.</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B5  ·  AGRICULTURE, FOOD &amp; AGRIBUSINESS  ·  ROOM B5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E7D32"/>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Modern agriculture is a science-and-business field, not just manual farm labour — say that explicitly, since it's the biggest misconception in the room.</a:t>
            </a:r>
            <a:endParaRPr lang="en-US" sz="1400" dirty="0"/>
          </a:p>
        </p:txBody>
      </p:sp>
      <p:sp>
        <p:nvSpPr>
          <p:cNvPr id="9" name="Shape 7"/>
          <p:cNvSpPr/>
          <p:nvPr/>
        </p:nvSpPr>
        <p:spPr>
          <a:xfrm>
            <a:off x="548640" y="3264408"/>
            <a:ext cx="402336" cy="402336"/>
          </a:xfrm>
          <a:prstGeom prst="ellipse">
            <a:avLst/>
          </a:prstGeom>
          <a:solidFill>
            <a:srgbClr val="2E7D32"/>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Agribusiness (processing, distribution, agri-tech) is where a huge share of real growth and profit sits — not just at the farm gate.</a:t>
            </a:r>
            <a:endParaRPr lang="en-US" sz="1400" dirty="0"/>
          </a:p>
        </p:txBody>
      </p:sp>
      <p:sp>
        <p:nvSpPr>
          <p:cNvPr id="12" name="Shape 10"/>
          <p:cNvSpPr/>
          <p:nvPr/>
        </p:nvSpPr>
        <p:spPr>
          <a:xfrm>
            <a:off x="548640" y="4471416"/>
            <a:ext cx="402336" cy="402336"/>
          </a:xfrm>
          <a:prstGeom prst="ellipse">
            <a:avLst/>
          </a:prstGeom>
          <a:solidFill>
            <a:srgbClr val="2E7D32"/>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Veterinary medicine is a full, rigorous medical profession in its own right, distinct from general agriculture.</a:t>
            </a:r>
            <a:endParaRPr lang="en-US" sz="1400" dirty="0"/>
          </a:p>
        </p:txBody>
      </p:sp>
      <p:sp>
        <p:nvSpPr>
          <p:cNvPr id="15" name="Shape 13"/>
          <p:cNvSpPr/>
          <p:nvPr/>
        </p:nvSpPr>
        <p:spPr>
          <a:xfrm>
            <a:off x="548640" y="5678424"/>
            <a:ext cx="402336" cy="402336"/>
          </a:xfrm>
          <a:prstGeom prst="ellipse">
            <a:avLst/>
          </a:prstGeom>
          <a:solidFill>
            <a:srgbClr val="2E7D32"/>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Kenya's agricultural exports and food security both depend directly on this field's next generation of scientists and entrepreneurs.</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B5  ·  AGRICULTURE, FOOD &amp; AGRIBUSINESS  ·  ROOM B5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E7D32"/>
                </a:solidFill>
                <a:latin typeface="Cambria" pitchFamily="34" charset="0"/>
                <a:ea typeface="Cambria" pitchFamily="34" charset="-122"/>
                <a:cs typeface="Cambria" pitchFamily="34" charset="-120"/>
              </a:rPr>
              <a:t>you already do the work, now claim the ownership</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Across Kenya, women do the large majority of actual farm labour — planting, tending, harvesting — yet own a small fraction of agricultural land and make a small fraction of the major farming and business decisions. That gap between doing the work and holding the power is one of the clearest, most well-documented patterns in this entire sector. Agribusiness, agri-tech, and agricultural leadership roles are the direct route to closing it — not by working harder in the field, but by moving into ownership, science, and decision-making. Tell them plainly: the sector already runs on women's labour. It's overdue to run on women's leadership too.</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B5  ·  AGRICULTURE, FOOD &amp; AGRIBUSINESS  ·  ROOM B5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6F1"/>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Give groups a simple farm-to-market scenario (a smallholder farmer's crop reaching a city market) and have them map every profession that touches it along the way.</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E7D32"/>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the biggest misconception people have about a career in this field?</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did you get from studying this to actually working in it?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Where do you see women underrepresented in this sector's ownership and leadership?</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B5  ·  AGRICULTURE, FOOD &amp; AGRIBUSINESS  ·  ROOM B5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E7D32"/>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trace one food item from your kitchen back to the farm, and name every profession that likely touched it along the way.</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produce sample or agribusiness product to show</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simple value-chain diagram if available</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B5 — Agriculture, Food &amp; Agribusiness.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7D32"/>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B</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Engineering, Earth &amp; Life Sciences (STEM)</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7BE99"/>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B6</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Aviation, Aerospace &amp; Maritime</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B6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E7D32"/>
                </a:solidFill>
                <a:latin typeface="Cambria" pitchFamily="34" charset="0"/>
                <a:ea typeface="Cambria" pitchFamily="34" charset="-122"/>
                <a:cs typeface="Cambria" pitchFamily="34" charset="-120"/>
              </a:rPr>
              <a:t>One flight takes off. An entire, invisible team of professionals made sure it could.</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Commercial Pilot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Aircraft Maintenance Engineer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Air Traffic Controller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Marine / Maritime Officer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Aerospace Engineer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F2EB"/>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Go and ask, specifically, what funding and training pathways exist — don't let the assumption that 'this isn't really for me' answer the question before it's even asked.</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B6  ·  AVIATION, AEROSPACE &amp; MARITIME  ·  ROOM B6</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5EF"/>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E7D32"/>
                </a:solidFill>
                <a:latin typeface="Cambria" pitchFamily="34" charset="0"/>
                <a:ea typeface="Cambria" pitchFamily="34" charset="-122"/>
                <a:cs typeface="Cambria" pitchFamily="34" charset="-120"/>
              </a:rPr>
              <a:t>"One flight takes off. An entire, invisible team of professionals made sure it could."</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Aviation and maritime trade connect Kenya to the world — genuinely strategic industries, not just glamorous ones.</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B6  ·  AVIATION, AEROSPACE &amp; MARITIME  ·  ROOM B6</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0F6F1"/>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Commercial Pilot</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Serious training investment — talk transparently about cost, hours, and sponsorship routes.</a:t>
            </a:r>
            <a:endParaRPr lang="en-US" sz="1200" dirty="0"/>
          </a:p>
        </p:txBody>
      </p:sp>
      <p:sp>
        <p:nvSpPr>
          <p:cNvPr id="9" name="Shape 7"/>
          <p:cNvSpPr/>
          <p:nvPr/>
        </p:nvSpPr>
        <p:spPr>
          <a:xfrm>
            <a:off x="6195060" y="1691640"/>
            <a:ext cx="5417820" cy="1447800"/>
          </a:xfrm>
          <a:prstGeom prst="roundRect">
            <a:avLst>
              <a:gd name="adj" fmla="val 4421"/>
            </a:avLst>
          </a:prstGeom>
          <a:solidFill>
            <a:srgbClr val="F0F6F1"/>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Aircraft Maintenance Engineer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 skilled technical trade with strong, steady demand — often overlooked.</a:t>
            </a:r>
            <a:endParaRPr lang="en-US" sz="1200" dirty="0"/>
          </a:p>
        </p:txBody>
      </p:sp>
      <p:sp>
        <p:nvSpPr>
          <p:cNvPr id="12" name="Shape 10"/>
          <p:cNvSpPr/>
          <p:nvPr/>
        </p:nvSpPr>
        <p:spPr>
          <a:xfrm>
            <a:off x="548640" y="3322320"/>
            <a:ext cx="5417820" cy="1447800"/>
          </a:xfrm>
          <a:prstGeom prst="roundRect">
            <a:avLst>
              <a:gd name="adj" fmla="val 4421"/>
            </a:avLst>
          </a:prstGeom>
          <a:solidFill>
            <a:srgbClr val="F0F6F1"/>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Air Traffic Controller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High-responsibility, highly trained role keeping the skies safely coordinated.</a:t>
            </a:r>
            <a:endParaRPr lang="en-US" sz="1200" dirty="0"/>
          </a:p>
        </p:txBody>
      </p:sp>
      <p:sp>
        <p:nvSpPr>
          <p:cNvPr id="15" name="Shape 13"/>
          <p:cNvSpPr/>
          <p:nvPr/>
        </p:nvSpPr>
        <p:spPr>
          <a:xfrm>
            <a:off x="6195060" y="3322320"/>
            <a:ext cx="5417820" cy="1447800"/>
          </a:xfrm>
          <a:prstGeom prst="roundRect">
            <a:avLst>
              <a:gd name="adj" fmla="val 4421"/>
            </a:avLst>
          </a:prstGeom>
          <a:solidFill>
            <a:srgbClr val="F0F6F1"/>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Marine / Maritime Officer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Runs vessels and port logistics — Kenya's coastal trade depends on this expertise.</a:t>
            </a:r>
            <a:endParaRPr lang="en-US" sz="1200" dirty="0"/>
          </a:p>
        </p:txBody>
      </p:sp>
      <p:sp>
        <p:nvSpPr>
          <p:cNvPr id="18" name="Shape 16"/>
          <p:cNvSpPr/>
          <p:nvPr/>
        </p:nvSpPr>
        <p:spPr>
          <a:xfrm>
            <a:off x="548640" y="4953000"/>
            <a:ext cx="5417820" cy="1447800"/>
          </a:xfrm>
          <a:prstGeom prst="roundRect">
            <a:avLst>
              <a:gd name="adj" fmla="val 4421"/>
            </a:avLst>
          </a:prstGeom>
          <a:solidFill>
            <a:srgbClr val="F0F6F1"/>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2E7D32"/>
                </a:solidFill>
                <a:latin typeface="Calibri" pitchFamily="34" charset="0"/>
                <a:ea typeface="Calibri" pitchFamily="34" charset="-122"/>
                <a:cs typeface="Calibri" pitchFamily="34" charset="-120"/>
              </a:rPr>
              <a:t>Aerospace Engineer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Designs and improves the aircraft and systems themselves — a specialised, rare path.</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B6  ·  AVIATION, AEROSPACE &amp; MARITIME  ·  ROOM B6</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E7D32"/>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One flight or one shipment involves far more people than the ones the public sees — pilots, engineers, controllers, and logistics teams all have to get it right together.</a:t>
            </a:r>
            <a:endParaRPr lang="en-US" sz="1400" dirty="0"/>
          </a:p>
        </p:txBody>
      </p:sp>
      <p:sp>
        <p:nvSpPr>
          <p:cNvPr id="9" name="Shape 7"/>
          <p:cNvSpPr/>
          <p:nvPr/>
        </p:nvSpPr>
        <p:spPr>
          <a:xfrm>
            <a:off x="548640" y="3264408"/>
            <a:ext cx="402336" cy="402336"/>
          </a:xfrm>
          <a:prstGeom prst="ellipse">
            <a:avLst/>
          </a:prstGeom>
          <a:solidFill>
            <a:srgbClr val="2E7D32"/>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 transparent about pilot training costs, hours, and any real scholarship or sponsorship routes that exist.</a:t>
            </a:r>
            <a:endParaRPr lang="en-US" sz="1400" dirty="0"/>
          </a:p>
        </p:txBody>
      </p:sp>
      <p:sp>
        <p:nvSpPr>
          <p:cNvPr id="12" name="Shape 10"/>
          <p:cNvSpPr/>
          <p:nvPr/>
        </p:nvSpPr>
        <p:spPr>
          <a:xfrm>
            <a:off x="548640" y="4471416"/>
            <a:ext cx="402336" cy="402336"/>
          </a:xfrm>
          <a:prstGeom prst="ellipse">
            <a:avLst/>
          </a:prstGeom>
          <a:solidFill>
            <a:srgbClr val="2E7D32"/>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Maintenance engineering and air traffic control are steady, well-respected technical careers, distinct from — and just as vital as — flying itself.</a:t>
            </a:r>
            <a:endParaRPr lang="en-US" sz="1400" dirty="0"/>
          </a:p>
        </p:txBody>
      </p:sp>
      <p:sp>
        <p:nvSpPr>
          <p:cNvPr id="15" name="Shape 13"/>
          <p:cNvSpPr/>
          <p:nvPr/>
        </p:nvSpPr>
        <p:spPr>
          <a:xfrm>
            <a:off x="548640" y="5678424"/>
            <a:ext cx="402336" cy="402336"/>
          </a:xfrm>
          <a:prstGeom prst="ellipse">
            <a:avLst/>
          </a:prstGeom>
          <a:solidFill>
            <a:srgbClr val="2E7D32"/>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Kenya's role as a regional aviation and maritime trade hub creates real, local career pipelines into this field.</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B6  ·  AVIATION, AEROSPACE &amp; MARITIME  ·  ROOM B6</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E7D32"/>
                </a:solidFill>
                <a:latin typeface="Cambria" pitchFamily="34" charset="0"/>
                <a:ea typeface="Cambria" pitchFamily="34" charset="-122"/>
                <a:cs typeface="Cambria" pitchFamily="34" charset="-120"/>
              </a:rPr>
              <a:t>the cockpit and the bridge were never off-limits, just underinvited</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Commercial pilots and ship captains remain overwhelmingly male worldwide and in Kenya, while cabin crew and shore-based roles skew female — a split that reflects who was actively recruited and financed into flight and maritime training, not who was capable of it. The training cost and time commitment are real barriers for everyone, but they've historically fallen harder on girls who were never pointed toward scholarship and sponsorship pathways in the first place. If flying or captaining a vessel genuinely interests a student in this room, tell her plainly: go and ask, specifically, what funding and training pathways exist — don't let the assumption that 'this isn't really for me' answer the question before she's even asked it.</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B6  ·  AVIATION, AEROSPACE &amp; MARITIME  ·  ROOM B6</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6F1"/>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E7D32"/>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Ask students to list every role they think touches a single aircraft or ship between arrival and the next departure — reveal how many jobs that really is.</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E7D32"/>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the training path really like, cost and time included?</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the most misunderstood part of your role?</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would you tell a girl who assumes the cockpit or the bridge 'isn't really for her'?</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E7D32"/>
                </a:solidFill>
                <a:latin typeface="Calibri" pitchFamily="34" charset="0"/>
                <a:ea typeface="Calibri" pitchFamily="34" charset="-122"/>
                <a:cs typeface="Calibri" pitchFamily="34" charset="-120"/>
              </a:rPr>
              <a:t>B6  ·  AVIATION, AEROSPACE &amp; MARITIME  ·  ROOM B6</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E7D32"/>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look up the entry requirements for one specific aviation or maritime role that interests you and note exactly what's required.</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Uniform piece, safety card, or route map to show</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Any sponsor-provided materials if available</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B6 — Aviation, Aerospace &amp; Maritime.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C4A7C"/>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C</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Business, Finance, Trade &amp; Leadership</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6A5BE"/>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C1</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Finance &amp; Actuarial Sciences</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C1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C4A7C"/>
                </a:solidFill>
                <a:latin typeface="Cambria" pitchFamily="34" charset="0"/>
                <a:ea typeface="Cambria" pitchFamily="34" charset="-122"/>
                <a:cs typeface="Cambria" pitchFamily="34" charset="-120"/>
              </a:rPr>
              <a:t>Every big decision — a hospital built, a business funded, a family protected — has a number behind it. This field is where that number comes from.</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Actuary</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Investment Analyst / Banker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Accountant / Auditor (CPA)</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Financial Planner / Wealth Advisor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Insurance Underwriter / Risk Manager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EDF2"/>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C4A7C"/>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Actuarial science, investment analysis, and corporate finance are exactly as open to her as to anyone — the confidence gap here is about encouragement received, not ability.</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C1  ·  FINANCE &amp; ACTUARIAL SCIENCES  ·  ROOM C1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1F5"/>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C4A7C"/>
                </a:solidFill>
                <a:latin typeface="Cambria" pitchFamily="34" charset="0"/>
                <a:ea typeface="Cambria" pitchFamily="34" charset="-122"/>
                <a:cs typeface="Cambria" pitchFamily="34" charset="-120"/>
              </a:rPr>
              <a:t>"Every big decision — a hospital built, a business funded, a family protected — has a number behind it. This field is where that number comes from."</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Kenya's financial sector, and mobile-money-driven fintech specifically, is one of the most dynamic in Africa, with real global-standard career paths inside it.</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C1  ·  FINANCE &amp; ACTUARIAL SCIENCES  ·  ROOM C1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0F2F6"/>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Actuary</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Uses maths and statistics to price risk — globally recognised, strongly compensated, underused by strong maths students.</a:t>
            </a:r>
            <a:endParaRPr lang="en-US" sz="1200" dirty="0"/>
          </a:p>
        </p:txBody>
      </p:sp>
      <p:sp>
        <p:nvSpPr>
          <p:cNvPr id="9" name="Shape 7"/>
          <p:cNvSpPr/>
          <p:nvPr/>
        </p:nvSpPr>
        <p:spPr>
          <a:xfrm>
            <a:off x="6195060" y="1691640"/>
            <a:ext cx="5417820" cy="1447800"/>
          </a:xfrm>
          <a:prstGeom prst="roundRect">
            <a:avLst>
              <a:gd name="adj" fmla="val 4421"/>
            </a:avLst>
          </a:prstGeom>
          <a:solidFill>
            <a:srgbClr val="F0F2F6"/>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Investment Analyst / Banker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Analyses and moves capital — corporate finance, investment banking, asset management.</a:t>
            </a:r>
            <a:endParaRPr lang="en-US" sz="1200" dirty="0"/>
          </a:p>
        </p:txBody>
      </p:sp>
      <p:sp>
        <p:nvSpPr>
          <p:cNvPr id="12" name="Shape 10"/>
          <p:cNvSpPr/>
          <p:nvPr/>
        </p:nvSpPr>
        <p:spPr>
          <a:xfrm>
            <a:off x="548640" y="3322320"/>
            <a:ext cx="5417820" cy="1447800"/>
          </a:xfrm>
          <a:prstGeom prst="roundRect">
            <a:avLst>
              <a:gd name="adj" fmla="val 4421"/>
            </a:avLst>
          </a:prstGeom>
          <a:solidFill>
            <a:srgbClr val="F0F2F6"/>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Accountant / Auditor (CPA)</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The trusted backbone of every functioning organisation, public or private.</a:t>
            </a:r>
            <a:endParaRPr lang="en-US" sz="1200" dirty="0"/>
          </a:p>
        </p:txBody>
      </p:sp>
      <p:sp>
        <p:nvSpPr>
          <p:cNvPr id="15" name="Shape 13"/>
          <p:cNvSpPr/>
          <p:nvPr/>
        </p:nvSpPr>
        <p:spPr>
          <a:xfrm>
            <a:off x="6195060" y="3322320"/>
            <a:ext cx="5417820" cy="1447800"/>
          </a:xfrm>
          <a:prstGeom prst="roundRect">
            <a:avLst>
              <a:gd name="adj" fmla="val 4421"/>
            </a:avLst>
          </a:prstGeom>
          <a:solidFill>
            <a:srgbClr val="F0F2F6"/>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Financial Planner / Wealth Advisor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Helps individuals and families make real, lasting financial decisions.</a:t>
            </a:r>
            <a:endParaRPr lang="en-US" sz="1200" dirty="0"/>
          </a:p>
        </p:txBody>
      </p:sp>
      <p:sp>
        <p:nvSpPr>
          <p:cNvPr id="18" name="Shape 16"/>
          <p:cNvSpPr/>
          <p:nvPr/>
        </p:nvSpPr>
        <p:spPr>
          <a:xfrm>
            <a:off x="548640" y="4953000"/>
            <a:ext cx="5417820" cy="1447800"/>
          </a:xfrm>
          <a:prstGeom prst="roundRect">
            <a:avLst>
              <a:gd name="adj" fmla="val 4421"/>
            </a:avLst>
          </a:prstGeom>
          <a:solidFill>
            <a:srgbClr val="F0F2F6"/>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Insurance Underwriter / Risk Manager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Assesses and manages risk — a stable, in-demand specialism.</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C1  ·  FINANCE &amp; ACTUARIAL SCIENCES  ·  ROOM C1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C4A7C"/>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Actuarial science is a strong, underused path for maths-strong students — a globally recognised specialism many haven't heard of by name.</a:t>
            </a:r>
            <a:endParaRPr lang="en-US" sz="1400" dirty="0"/>
          </a:p>
        </p:txBody>
      </p:sp>
      <p:sp>
        <p:nvSpPr>
          <p:cNvPr id="9" name="Shape 7"/>
          <p:cNvSpPr/>
          <p:nvPr/>
        </p:nvSpPr>
        <p:spPr>
          <a:xfrm>
            <a:off x="548640" y="3264408"/>
            <a:ext cx="402336" cy="402336"/>
          </a:xfrm>
          <a:prstGeom prst="ellipse">
            <a:avLst/>
          </a:prstGeom>
          <a:solidFill>
            <a:srgbClr val="2C4A7C"/>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Professional certifications (CFA, ACCA/CPA, actuarial exams) often matter as much as the specific degree, and can be pursued alongside work.</a:t>
            </a:r>
            <a:endParaRPr lang="en-US" sz="1400" dirty="0"/>
          </a:p>
        </p:txBody>
      </p:sp>
      <p:sp>
        <p:nvSpPr>
          <p:cNvPr id="12" name="Shape 10"/>
          <p:cNvSpPr/>
          <p:nvPr/>
        </p:nvSpPr>
        <p:spPr>
          <a:xfrm>
            <a:off x="548640" y="4471416"/>
            <a:ext cx="402336" cy="402336"/>
          </a:xfrm>
          <a:prstGeom prst="ellipse">
            <a:avLst/>
          </a:prstGeom>
          <a:solidFill>
            <a:srgbClr val="2C4A7C"/>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Kenya's fintech and mobile-money sector has created entirely new finance careers that didn't exist a decade ago.</a:t>
            </a:r>
            <a:endParaRPr lang="en-US" sz="1400" dirty="0"/>
          </a:p>
        </p:txBody>
      </p:sp>
      <p:sp>
        <p:nvSpPr>
          <p:cNvPr id="15" name="Shape 13"/>
          <p:cNvSpPr/>
          <p:nvPr/>
        </p:nvSpPr>
        <p:spPr>
          <a:xfrm>
            <a:off x="548640" y="5678424"/>
            <a:ext cx="402336" cy="402336"/>
          </a:xfrm>
          <a:prstGeom prst="ellipse">
            <a:avLst/>
          </a:prstGeom>
          <a:solidFill>
            <a:srgbClr val="2C4A7C"/>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field rewards analytical rigour and people skills equally — it is not a purely 'math person' career.</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C1  ·  FINANCE &amp; ACTUARIAL SCIENCES  ·  ROOM C1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C4A7C"/>
                </a:solidFill>
                <a:latin typeface="Cambria" pitchFamily="34" charset="0"/>
                <a:ea typeface="Cambria" pitchFamily="34" charset="-122"/>
                <a:cs typeface="Cambria" pitchFamily="34" charset="-120"/>
              </a:rPr>
              <a:t>the numbers don't care who's holding the pen</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Senior finance and actuarial leadership in Kenya and globally still skews heavily male, even though the technical skill this field demands has nothing to do with gender. What often happens instead is quieter: girls who are genuinely strong at maths get steered toward 'safer,' more people-facing roles, while boys with the same grades get pointed toward trading floors and actuarial exams. If a student in this room is strong at maths and finds this interesting, tell her directly that actuarial science, investment analysis, and corporate finance are exactly as open to her as to anyone — and that the confidence gap in this field is almost always about encouragement received, not ability.</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C1  ·  FINANCE &amp; ACTUARIAL SCIENCES  ·  ROOM C1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2F6"/>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C4A7C"/>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Give groups a simple monthly budget with a shortfall and three minutes to decide what to cut or prioritise — then connect it to real financial advising and risk-assessment thinking.</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C4A7C"/>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financial decision you helped someone make that mattered a lot?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balance a client's interest with a business target?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Why do you think senior finance leadership is still so male-dominated?</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C1  ·  FINANCE &amp; ACTUARIAL SCIENCES  ·  ROOM C1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C4A7C"/>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track every shilling you spend for three days — notice how much financial decision-making you're already doing.</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simplified budget/risk worksheet to hand out</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Any relevant product brochure (savings, insurance) if available</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C1 — Finance &amp; Actuarial Sciences.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C4A7C"/>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C</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Business, Finance, Trade &amp; Leadership</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6A5BE"/>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C2</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Entrepreneurship &amp; Innovation</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C2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C4A7C"/>
                </a:solidFill>
                <a:latin typeface="Cambria" pitchFamily="34" charset="0"/>
                <a:ea typeface="Cambria" pitchFamily="34" charset="-122"/>
                <a:cs typeface="Cambria" pitchFamily="34" charset="-120"/>
              </a:rPr>
              <a:t>Every business you admire started as one person deciding a problem was worth solving. That's a skill, and it's teachable.</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Startup Founder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Product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Innovation Consultant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Small Business Owner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EDF2"/>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C4A7C"/>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them: if you build something real, go looking for that funding specifically — don't wait to be found, and don't undervalue your own idea before anyone else gets the chance to.</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C2  ·  ENTREPRENEURSHIP &amp; INNOVATION  ·  ROOM C2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1F5"/>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C4A7C"/>
                </a:solidFill>
                <a:latin typeface="Cambria" pitchFamily="34" charset="0"/>
                <a:ea typeface="Cambria" pitchFamily="34" charset="-122"/>
                <a:cs typeface="Cambria" pitchFamily="34" charset="-120"/>
              </a:rPr>
              <a:t>"Every business you admire started as one person deciding a problem was worth solving. That's a skill, and it's teachable."</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Kenya's startup ecosystem is genuinely one of Africa's strongest — real, local proof that building something from nothing is possible here.</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C2  ·  ENTREPRENEURSHIP &amp; INNOVATION  ·  ROOM C2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2263140"/>
          </a:xfrm>
          <a:prstGeom prst="roundRect">
            <a:avLst>
              <a:gd name="adj" fmla="val 2828"/>
            </a:avLst>
          </a:prstGeom>
          <a:solidFill>
            <a:srgbClr val="F0F2F6"/>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Startup Founder</a:t>
            </a:r>
            <a:endParaRPr lang="en-US" sz="1450" dirty="0"/>
          </a:p>
        </p:txBody>
      </p:sp>
      <p:sp>
        <p:nvSpPr>
          <p:cNvPr id="8" name="Text 6"/>
          <p:cNvSpPr/>
          <p:nvPr/>
        </p:nvSpPr>
        <p:spPr>
          <a:xfrm>
            <a:off x="749808" y="228600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Builds a new venture from an identified real problem — high risk, high learning, real reward.</a:t>
            </a:r>
            <a:endParaRPr lang="en-US" sz="1200" dirty="0"/>
          </a:p>
        </p:txBody>
      </p:sp>
      <p:sp>
        <p:nvSpPr>
          <p:cNvPr id="9" name="Shape 7"/>
          <p:cNvSpPr/>
          <p:nvPr/>
        </p:nvSpPr>
        <p:spPr>
          <a:xfrm>
            <a:off x="6195060" y="1691640"/>
            <a:ext cx="5417820" cy="2263140"/>
          </a:xfrm>
          <a:prstGeom prst="roundRect">
            <a:avLst>
              <a:gd name="adj" fmla="val 2828"/>
            </a:avLst>
          </a:prstGeom>
          <a:solidFill>
            <a:srgbClr val="F0F2F6"/>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Product Manager</a:t>
            </a:r>
            <a:endParaRPr lang="en-US" sz="1450" dirty="0"/>
          </a:p>
        </p:txBody>
      </p:sp>
      <p:sp>
        <p:nvSpPr>
          <p:cNvPr id="11" name="Text 9"/>
          <p:cNvSpPr/>
          <p:nvPr/>
        </p:nvSpPr>
        <p:spPr>
          <a:xfrm>
            <a:off x="6396228" y="228600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Shapes what a company builds next by translating customer needs into a real plan.</a:t>
            </a:r>
            <a:endParaRPr lang="en-US" sz="1200" dirty="0"/>
          </a:p>
        </p:txBody>
      </p:sp>
      <p:sp>
        <p:nvSpPr>
          <p:cNvPr id="12" name="Shape 10"/>
          <p:cNvSpPr/>
          <p:nvPr/>
        </p:nvSpPr>
        <p:spPr>
          <a:xfrm>
            <a:off x="548640" y="4137660"/>
            <a:ext cx="5417820" cy="2263140"/>
          </a:xfrm>
          <a:prstGeom prst="roundRect">
            <a:avLst>
              <a:gd name="adj" fmla="val 2828"/>
            </a:avLst>
          </a:prstGeom>
          <a:solidFill>
            <a:srgbClr val="F0F2F6"/>
          </a:solidFill>
          <a:ln/>
        </p:spPr>
      </p:sp>
      <p:sp>
        <p:nvSpPr>
          <p:cNvPr id="13" name="Text 11"/>
          <p:cNvSpPr/>
          <p:nvPr/>
        </p:nvSpPr>
        <p:spPr>
          <a:xfrm>
            <a:off x="749808" y="427482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Innovation Consultant</a:t>
            </a:r>
            <a:endParaRPr lang="en-US" sz="1450" dirty="0"/>
          </a:p>
        </p:txBody>
      </p:sp>
      <p:sp>
        <p:nvSpPr>
          <p:cNvPr id="14" name="Text 12"/>
          <p:cNvSpPr/>
          <p:nvPr/>
        </p:nvSpPr>
        <p:spPr>
          <a:xfrm>
            <a:off x="749808" y="473202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Helps established organisations think and build like startups.</a:t>
            </a:r>
            <a:endParaRPr lang="en-US" sz="1200" dirty="0"/>
          </a:p>
        </p:txBody>
      </p:sp>
      <p:sp>
        <p:nvSpPr>
          <p:cNvPr id="15" name="Shape 13"/>
          <p:cNvSpPr/>
          <p:nvPr/>
        </p:nvSpPr>
        <p:spPr>
          <a:xfrm>
            <a:off x="6195060" y="4137660"/>
            <a:ext cx="5417820" cy="2263140"/>
          </a:xfrm>
          <a:prstGeom prst="roundRect">
            <a:avLst>
              <a:gd name="adj" fmla="val 2828"/>
            </a:avLst>
          </a:prstGeom>
          <a:solidFill>
            <a:srgbClr val="F0F2F6"/>
          </a:solidFill>
          <a:ln/>
        </p:spPr>
      </p:sp>
      <p:sp>
        <p:nvSpPr>
          <p:cNvPr id="16" name="Text 14"/>
          <p:cNvSpPr/>
          <p:nvPr/>
        </p:nvSpPr>
        <p:spPr>
          <a:xfrm>
            <a:off x="6396228" y="427482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Small Business Owner</a:t>
            </a:r>
            <a:endParaRPr lang="en-US" sz="1450" dirty="0"/>
          </a:p>
        </p:txBody>
      </p:sp>
      <p:sp>
        <p:nvSpPr>
          <p:cNvPr id="17" name="Text 15"/>
          <p:cNvSpPr/>
          <p:nvPr/>
        </p:nvSpPr>
        <p:spPr>
          <a:xfrm>
            <a:off x="6396228" y="473202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The most common, most underestimated form of entrepreneurship — real ownership, real impact.</a:t>
            </a:r>
            <a:endParaRPr lang="en-US" sz="12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C2  ·  ENTREPRENEURSHIP &amp; INNOVATION  ·  ROOM C2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C4A7C"/>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Entrepreneurship is a discipline with real tools — market validation, cash-flow management, iteration — it's learnable, not just a personality trait.</a:t>
            </a:r>
            <a:endParaRPr lang="en-US" sz="1400" dirty="0"/>
          </a:p>
        </p:txBody>
      </p:sp>
      <p:sp>
        <p:nvSpPr>
          <p:cNvPr id="9" name="Shape 7"/>
          <p:cNvSpPr/>
          <p:nvPr/>
        </p:nvSpPr>
        <p:spPr>
          <a:xfrm>
            <a:off x="548640" y="3264408"/>
            <a:ext cx="402336" cy="402336"/>
          </a:xfrm>
          <a:prstGeom prst="ellipse">
            <a:avLst/>
          </a:prstGeom>
          <a:solidFill>
            <a:srgbClr val="2C4A7C"/>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 candid about failure; most entrepreneurs have at least one venture that didn't work, and what mattered was what they did next.</a:t>
            </a:r>
            <a:endParaRPr lang="en-US" sz="1400" dirty="0"/>
          </a:p>
        </p:txBody>
      </p:sp>
      <p:sp>
        <p:nvSpPr>
          <p:cNvPr id="12" name="Shape 10"/>
          <p:cNvSpPr/>
          <p:nvPr/>
        </p:nvSpPr>
        <p:spPr>
          <a:xfrm>
            <a:off x="548640" y="4471416"/>
            <a:ext cx="402336" cy="402336"/>
          </a:xfrm>
          <a:prstGeom prst="ellipse">
            <a:avLst/>
          </a:prstGeom>
          <a:solidFill>
            <a:srgbClr val="2C4A7C"/>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Cash-flow management, not just a good idea, is what actually keeps or kills most small businesses — a critical, teachable skill.</a:t>
            </a:r>
            <a:endParaRPr lang="en-US" sz="1400" dirty="0"/>
          </a:p>
        </p:txBody>
      </p:sp>
      <p:sp>
        <p:nvSpPr>
          <p:cNvPr id="15" name="Shape 13"/>
          <p:cNvSpPr/>
          <p:nvPr/>
        </p:nvSpPr>
        <p:spPr>
          <a:xfrm>
            <a:off x="548640" y="5678424"/>
            <a:ext cx="402336" cy="402336"/>
          </a:xfrm>
          <a:prstGeom prst="ellipse">
            <a:avLst/>
          </a:prstGeom>
          <a:solidFill>
            <a:srgbClr val="2C4A7C"/>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You don't need to found a company from zero to build these skills — many people build them inside an existing business first.</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C2  ·  ENTREPRENEURSHIP &amp; INNOVATION  ·  ROOM C2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C4A7C"/>
                </a:solidFill>
                <a:latin typeface="Cambria" pitchFamily="34" charset="0"/>
                <a:ea typeface="Cambria" pitchFamily="34" charset="-122"/>
                <a:cs typeface="Cambria" pitchFamily="34" charset="-120"/>
              </a:rPr>
              <a:t>your idea deserves the same capital a man's does</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Women-led businesses globally, and in Kenya specifically, receive a small fraction of the funding that male-led businesses do — not because the ideas are weaker, but because investors have historically pattern-matched 'founder' to look a certain way. This is one of the best-documented gaps in the entire entrepreneurship world, and it is actively, visibly changing as more women-focused funds, accelerators, and angel networks open specifically to close it. Tell them: if you build something real, go looking for that funding specifically — don't wait to be found, and don't undervalue your own idea before anyone else gets the chance to.</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C2  ·  ENTREPRENEURSHIP &amp; INNOVATION  ·  ROOM C2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2F6"/>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C4A7C"/>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Give groups a simple, real supply-chain or business problem (e.g. 'your one supplier just doubled their price') and three minutes to propose a response.</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C4A7C"/>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failure that taught you the most?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know when to keep pushing an idea versus let it go?</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it actually like trying to raise funding as a woman in this space?</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C2  ·  ENTREPRENEURSHIP &amp; INNOVATION  ·  ROOM C2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C4A7C"/>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identify one small, real problem around you and sketch — even roughly — what a business solving it might look like.</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real product sample or prototype if available</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simple one-page business model example</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C2 — Entrepreneurship &amp; Innovation.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C4A7C"/>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C</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Business, Finance, Trade &amp; Leadership</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6A5BE"/>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C3</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Leadership &amp; Strategic/HR Management</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C3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C4A7C"/>
                </a:solidFill>
                <a:latin typeface="Cambria" pitchFamily="34" charset="0"/>
                <a:ea typeface="Cambria" pitchFamily="34" charset="-122"/>
                <a:cs typeface="Cambria" pitchFamily="34" charset="-120"/>
              </a:rPr>
              <a:t>Someone has to decide where an organisation goes next, and who it takes with it. That's this whole field, in one sentence.</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General / Operations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HR / People Leadership</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Management Consultant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Strategy Analyst</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EDF2"/>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C4A7C"/>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them: lead like the job requires, not like you're apologising for being in the room.</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C3  ·  LEADERSHIP &amp; STRATEGIC/HR MANAGEMENT  ·  ROOM C3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1F5"/>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C4A7C"/>
                </a:solidFill>
                <a:latin typeface="Cambria" pitchFamily="34" charset="0"/>
                <a:ea typeface="Cambria" pitchFamily="34" charset="-122"/>
                <a:cs typeface="Cambria" pitchFamily="34" charset="-120"/>
              </a:rPr>
              <a:t>"Someone has to decide where an organisation goes next, and who it takes with it. That's this whole field, in one sentence."</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Every industry needs people who can turn a good idea into a working plan and a working team — leadership is a transferable skill that outlives any single job.</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C3  ·  LEADERSHIP &amp; STRATEGIC/HR MANAGEMENT  ·  ROOM C3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2263140"/>
          </a:xfrm>
          <a:prstGeom prst="roundRect">
            <a:avLst>
              <a:gd name="adj" fmla="val 2828"/>
            </a:avLst>
          </a:prstGeom>
          <a:solidFill>
            <a:srgbClr val="F0F2F6"/>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General / Operations Manager</a:t>
            </a:r>
            <a:endParaRPr lang="en-US" sz="1450" dirty="0"/>
          </a:p>
        </p:txBody>
      </p:sp>
      <p:sp>
        <p:nvSpPr>
          <p:cNvPr id="8" name="Text 6"/>
          <p:cNvSpPr/>
          <p:nvPr/>
        </p:nvSpPr>
        <p:spPr>
          <a:xfrm>
            <a:off x="749808" y="228600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Keeps an organisation actually running, day to day and strategically.</a:t>
            </a:r>
            <a:endParaRPr lang="en-US" sz="1200" dirty="0"/>
          </a:p>
        </p:txBody>
      </p:sp>
      <p:sp>
        <p:nvSpPr>
          <p:cNvPr id="9" name="Shape 7"/>
          <p:cNvSpPr/>
          <p:nvPr/>
        </p:nvSpPr>
        <p:spPr>
          <a:xfrm>
            <a:off x="6195060" y="1691640"/>
            <a:ext cx="5417820" cy="2263140"/>
          </a:xfrm>
          <a:prstGeom prst="roundRect">
            <a:avLst>
              <a:gd name="adj" fmla="val 2828"/>
            </a:avLst>
          </a:prstGeom>
          <a:solidFill>
            <a:srgbClr val="F0F2F6"/>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HR / People Leadership</a:t>
            </a:r>
            <a:endParaRPr lang="en-US" sz="1450" dirty="0"/>
          </a:p>
        </p:txBody>
      </p:sp>
      <p:sp>
        <p:nvSpPr>
          <p:cNvPr id="11" name="Text 9"/>
          <p:cNvSpPr/>
          <p:nvPr/>
        </p:nvSpPr>
        <p:spPr>
          <a:xfrm>
            <a:off x="6396228" y="228600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Recruits, develops, and retains people — a strategic specialism, not just paperwork.</a:t>
            </a:r>
            <a:endParaRPr lang="en-US" sz="1200" dirty="0"/>
          </a:p>
        </p:txBody>
      </p:sp>
      <p:sp>
        <p:nvSpPr>
          <p:cNvPr id="12" name="Shape 10"/>
          <p:cNvSpPr/>
          <p:nvPr/>
        </p:nvSpPr>
        <p:spPr>
          <a:xfrm>
            <a:off x="548640" y="4137660"/>
            <a:ext cx="5417820" cy="2263140"/>
          </a:xfrm>
          <a:prstGeom prst="roundRect">
            <a:avLst>
              <a:gd name="adj" fmla="val 2828"/>
            </a:avLst>
          </a:prstGeom>
          <a:solidFill>
            <a:srgbClr val="F0F2F6"/>
          </a:solidFill>
          <a:ln/>
        </p:spPr>
      </p:sp>
      <p:sp>
        <p:nvSpPr>
          <p:cNvPr id="13" name="Text 11"/>
          <p:cNvSpPr/>
          <p:nvPr/>
        </p:nvSpPr>
        <p:spPr>
          <a:xfrm>
            <a:off x="749808" y="427482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Management Consultant</a:t>
            </a:r>
            <a:endParaRPr lang="en-US" sz="1450" dirty="0"/>
          </a:p>
        </p:txBody>
      </p:sp>
      <p:sp>
        <p:nvSpPr>
          <p:cNvPr id="14" name="Text 12"/>
          <p:cNvSpPr/>
          <p:nvPr/>
        </p:nvSpPr>
        <p:spPr>
          <a:xfrm>
            <a:off x="749808" y="473202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Solves varied problems across industries rather than going deep in one.</a:t>
            </a:r>
            <a:endParaRPr lang="en-US" sz="1200" dirty="0"/>
          </a:p>
        </p:txBody>
      </p:sp>
      <p:sp>
        <p:nvSpPr>
          <p:cNvPr id="15" name="Shape 13"/>
          <p:cNvSpPr/>
          <p:nvPr/>
        </p:nvSpPr>
        <p:spPr>
          <a:xfrm>
            <a:off x="6195060" y="4137660"/>
            <a:ext cx="5417820" cy="2263140"/>
          </a:xfrm>
          <a:prstGeom prst="roundRect">
            <a:avLst>
              <a:gd name="adj" fmla="val 2828"/>
            </a:avLst>
          </a:prstGeom>
          <a:solidFill>
            <a:srgbClr val="F0F2F6"/>
          </a:solidFill>
          <a:ln/>
        </p:spPr>
      </p:sp>
      <p:sp>
        <p:nvSpPr>
          <p:cNvPr id="16" name="Text 14"/>
          <p:cNvSpPr/>
          <p:nvPr/>
        </p:nvSpPr>
        <p:spPr>
          <a:xfrm>
            <a:off x="6396228" y="427482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Strategy Analyst</a:t>
            </a:r>
            <a:endParaRPr lang="en-US" sz="1450" dirty="0"/>
          </a:p>
        </p:txBody>
      </p:sp>
      <p:sp>
        <p:nvSpPr>
          <p:cNvPr id="17" name="Text 15"/>
          <p:cNvSpPr/>
          <p:nvPr/>
        </p:nvSpPr>
        <p:spPr>
          <a:xfrm>
            <a:off x="6396228" y="473202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Shapes the big decisions behind where a company invests and grows next.</a:t>
            </a:r>
            <a:endParaRPr lang="en-US" sz="12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C3  ·  LEADERSHIP &amp; STRATEGIC/HR MANAGEMENT  ·  ROOM C3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C4A7C"/>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Management is a distinct, learnable skill set — decision-making under uncertainty, communication, people development — not a reward for tenure.</a:t>
            </a:r>
            <a:endParaRPr lang="en-US" sz="1400" dirty="0"/>
          </a:p>
        </p:txBody>
      </p:sp>
      <p:sp>
        <p:nvSpPr>
          <p:cNvPr id="9" name="Shape 7"/>
          <p:cNvSpPr/>
          <p:nvPr/>
        </p:nvSpPr>
        <p:spPr>
          <a:xfrm>
            <a:off x="548640" y="3264408"/>
            <a:ext cx="402336" cy="402336"/>
          </a:xfrm>
          <a:prstGeom prst="ellipse">
            <a:avLst/>
          </a:prstGeom>
          <a:solidFill>
            <a:srgbClr val="2C4A7C"/>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Most leaders start as specialists and move into management later; you rarely start your career as 'the manager.'</a:t>
            </a:r>
            <a:endParaRPr lang="en-US" sz="1400" dirty="0"/>
          </a:p>
        </p:txBody>
      </p:sp>
      <p:sp>
        <p:nvSpPr>
          <p:cNvPr id="12" name="Shape 10"/>
          <p:cNvSpPr/>
          <p:nvPr/>
        </p:nvSpPr>
        <p:spPr>
          <a:xfrm>
            <a:off x="548640" y="4471416"/>
            <a:ext cx="402336" cy="402336"/>
          </a:xfrm>
          <a:prstGeom prst="ellipse">
            <a:avLst/>
          </a:prstGeom>
          <a:solidFill>
            <a:srgbClr val="2C4A7C"/>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A huge part of this job is difficult conversations — talk honestly about giving hard feedback and resolving conflict.</a:t>
            </a:r>
            <a:endParaRPr lang="en-US" sz="1400" dirty="0"/>
          </a:p>
        </p:txBody>
      </p:sp>
      <p:sp>
        <p:nvSpPr>
          <p:cNvPr id="15" name="Shape 13"/>
          <p:cNvSpPr/>
          <p:nvPr/>
        </p:nvSpPr>
        <p:spPr>
          <a:xfrm>
            <a:off x="548640" y="5678424"/>
            <a:ext cx="402336" cy="402336"/>
          </a:xfrm>
          <a:prstGeom prst="ellipse">
            <a:avLst/>
          </a:prstGeom>
          <a:solidFill>
            <a:srgbClr val="2C4A7C"/>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An MBA or management qualification is often most valuable after a few years of real work experience, not immediately after school.</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C3  ·  LEADERSHIP &amp; STRATEGIC/HR MANAGEMENT  ·  ROOM C3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C4A7C"/>
                </a:solidFill>
                <a:latin typeface="Cambria" pitchFamily="34" charset="0"/>
                <a:ea typeface="Cambria" pitchFamily="34" charset="-122"/>
                <a:cs typeface="Cambria" pitchFamily="34" charset="-120"/>
              </a:rPr>
              <a:t>assertive is not a compliment reserved for men</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There's a well-documented double standard in leadership: the same assertiveness that gets a man called 'decisive' often gets a woman called 'difficult.' It shows up in performance reviews, in who gets promoted, and in who gets interrupted in meetings — and it's one of the most consistent findings in leadership research worldwide, Kenya included. Naming this pattern out loud to students matters, because the alternative is that they quietly absorb it as a personal flaw rather than recognise it as a bias to push through. Tell them: lead like the job requires, not like you're apologising for being in the room.</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C3  ·  LEADERSHIP &amp; STRATEGIC/HR MANAGEMENT  ·  ROOM C3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2F6"/>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C4A7C"/>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Role-play a short scenario: one student plays a manager giving difficult feedback to a 'team member' who missed a deadline — debrief what made it land well or badly.</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C4A7C"/>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the hardest conversation you've had to have as a leader?</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did you know you were ready to manage other people?</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Have you experienced the 'assertive man, difficult woman' double standard yourself?</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C3  ·  LEADERSHIP &amp; STRATEGIC/HR MANAGEMENT  ·  ROOM C3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C4A7C"/>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notice one moment in a group project where someone's leadership made things go better or worse, and think about why.</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short, real (anonymised) decision-making scenario to discuss</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Any org-chart example to show how roles connect</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C3 — Leadership &amp; Strategic/HR Management.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C4A7C"/>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C</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Business, Finance, Trade &amp; Leadership</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6A5BE"/>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C4</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Supply Chain, Logistics &amp; Procurement</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C4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C4A7C"/>
                </a:solidFill>
                <a:latin typeface="Cambria" pitchFamily="34" charset="0"/>
                <a:ea typeface="Cambria" pitchFamily="34" charset="-122"/>
                <a:cs typeface="Cambria" pitchFamily="34" charset="-120"/>
              </a:rPr>
              <a:t>Nothing reaches anyone — a hospital, a shop, a school — without this field quietly making sure it does.</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Supply Chain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Procurement / Sourcing Specialist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Logistics / Operations Coordinator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Warehouse / Distribution Manager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EDF2"/>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C4A7C"/>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Encourage them to see this as a wide-open field, not a niche one.</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C4  ·  SUPPLY CHAIN, LOGISTICS &amp; PROCUREMENT  ·  ROOM C4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1F5"/>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C4A7C"/>
                </a:solidFill>
                <a:latin typeface="Cambria" pitchFamily="34" charset="0"/>
                <a:ea typeface="Cambria" pitchFamily="34" charset="-122"/>
                <a:cs typeface="Cambria" pitchFamily="34" charset="-120"/>
              </a:rPr>
              <a:t>"Nothing reaches anyone — a hospital, a shop, a school — without this field quietly making sure it does."</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Every business and government service in Kenya depends on getting the right thing to the right place at the right cost — a real, structured, in-demand profession.</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C4  ·  SUPPLY CHAIN, LOGISTICS &amp; PROCUREMENT  ·  ROOM C4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2263140"/>
          </a:xfrm>
          <a:prstGeom prst="roundRect">
            <a:avLst>
              <a:gd name="adj" fmla="val 2828"/>
            </a:avLst>
          </a:prstGeom>
          <a:solidFill>
            <a:srgbClr val="F0F2F6"/>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Supply Chain Manager</a:t>
            </a:r>
            <a:endParaRPr lang="en-US" sz="1450" dirty="0"/>
          </a:p>
        </p:txBody>
      </p:sp>
      <p:sp>
        <p:nvSpPr>
          <p:cNvPr id="8" name="Text 6"/>
          <p:cNvSpPr/>
          <p:nvPr/>
        </p:nvSpPr>
        <p:spPr>
          <a:xfrm>
            <a:off x="749808" y="228600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Oversees the entire flow of goods from source to customer.</a:t>
            </a:r>
            <a:endParaRPr lang="en-US" sz="1200" dirty="0"/>
          </a:p>
        </p:txBody>
      </p:sp>
      <p:sp>
        <p:nvSpPr>
          <p:cNvPr id="9" name="Shape 7"/>
          <p:cNvSpPr/>
          <p:nvPr/>
        </p:nvSpPr>
        <p:spPr>
          <a:xfrm>
            <a:off x="6195060" y="1691640"/>
            <a:ext cx="5417820" cy="2263140"/>
          </a:xfrm>
          <a:prstGeom prst="roundRect">
            <a:avLst>
              <a:gd name="adj" fmla="val 2828"/>
            </a:avLst>
          </a:prstGeom>
          <a:solidFill>
            <a:srgbClr val="F0F2F6"/>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Procurement / Sourcing Specialist</a:t>
            </a:r>
            <a:endParaRPr lang="en-US" sz="1450" dirty="0"/>
          </a:p>
        </p:txBody>
      </p:sp>
      <p:sp>
        <p:nvSpPr>
          <p:cNvPr id="11" name="Text 9"/>
          <p:cNvSpPr/>
          <p:nvPr/>
        </p:nvSpPr>
        <p:spPr>
          <a:xfrm>
            <a:off x="6396228" y="228600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Finds and negotiates with suppliers — a real, strategic, high-trust role.</a:t>
            </a:r>
            <a:endParaRPr lang="en-US" sz="1200" dirty="0"/>
          </a:p>
        </p:txBody>
      </p:sp>
      <p:sp>
        <p:nvSpPr>
          <p:cNvPr id="12" name="Shape 10"/>
          <p:cNvSpPr/>
          <p:nvPr/>
        </p:nvSpPr>
        <p:spPr>
          <a:xfrm>
            <a:off x="548640" y="4137660"/>
            <a:ext cx="5417820" cy="2263140"/>
          </a:xfrm>
          <a:prstGeom prst="roundRect">
            <a:avLst>
              <a:gd name="adj" fmla="val 2828"/>
            </a:avLst>
          </a:prstGeom>
          <a:solidFill>
            <a:srgbClr val="F0F2F6"/>
          </a:solidFill>
          <a:ln/>
        </p:spPr>
      </p:sp>
      <p:sp>
        <p:nvSpPr>
          <p:cNvPr id="13" name="Text 11"/>
          <p:cNvSpPr/>
          <p:nvPr/>
        </p:nvSpPr>
        <p:spPr>
          <a:xfrm>
            <a:off x="749808" y="427482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Logistics / Operations Coordinator</a:t>
            </a:r>
            <a:endParaRPr lang="en-US" sz="1450" dirty="0"/>
          </a:p>
        </p:txBody>
      </p:sp>
      <p:sp>
        <p:nvSpPr>
          <p:cNvPr id="14" name="Text 12"/>
          <p:cNvSpPr/>
          <p:nvPr/>
        </p:nvSpPr>
        <p:spPr>
          <a:xfrm>
            <a:off x="749808" y="473202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Manages the moving parts day to day — genuinely fast-paced work.</a:t>
            </a:r>
            <a:endParaRPr lang="en-US" sz="1200" dirty="0"/>
          </a:p>
        </p:txBody>
      </p:sp>
      <p:sp>
        <p:nvSpPr>
          <p:cNvPr id="15" name="Shape 13"/>
          <p:cNvSpPr/>
          <p:nvPr/>
        </p:nvSpPr>
        <p:spPr>
          <a:xfrm>
            <a:off x="6195060" y="4137660"/>
            <a:ext cx="5417820" cy="2263140"/>
          </a:xfrm>
          <a:prstGeom prst="roundRect">
            <a:avLst>
              <a:gd name="adj" fmla="val 2828"/>
            </a:avLst>
          </a:prstGeom>
          <a:solidFill>
            <a:srgbClr val="F0F2F6"/>
          </a:solidFill>
          <a:ln/>
        </p:spPr>
      </p:sp>
      <p:sp>
        <p:nvSpPr>
          <p:cNvPr id="16" name="Text 14"/>
          <p:cNvSpPr/>
          <p:nvPr/>
        </p:nvSpPr>
        <p:spPr>
          <a:xfrm>
            <a:off x="6396228" y="427482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Warehouse / Distribution Manager</a:t>
            </a:r>
            <a:endParaRPr lang="en-US" sz="1450" dirty="0"/>
          </a:p>
        </p:txBody>
      </p:sp>
      <p:sp>
        <p:nvSpPr>
          <p:cNvPr id="17" name="Text 15"/>
          <p:cNvSpPr/>
          <p:nvPr/>
        </p:nvSpPr>
        <p:spPr>
          <a:xfrm>
            <a:off x="6396228" y="4732020"/>
            <a:ext cx="5015484" cy="153162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Runs the physical infrastructure that makes delivery possible at scale.</a:t>
            </a:r>
            <a:endParaRPr lang="en-US" sz="12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C4  ·  SUPPLY CHAIN, LOGISTICS &amp; PROCUREMENT  ·  ROOM C4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C4A7C"/>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field is invisible when it works and painfully visible when it fails — that's exactly why it's such a valued skill set.</a:t>
            </a:r>
            <a:endParaRPr lang="en-US" sz="1400" dirty="0"/>
          </a:p>
        </p:txBody>
      </p:sp>
      <p:sp>
        <p:nvSpPr>
          <p:cNvPr id="9" name="Shape 7"/>
          <p:cNvSpPr/>
          <p:nvPr/>
        </p:nvSpPr>
        <p:spPr>
          <a:xfrm>
            <a:off x="548640" y="3264408"/>
            <a:ext cx="402336" cy="402336"/>
          </a:xfrm>
          <a:prstGeom prst="ellipse">
            <a:avLst/>
          </a:prstGeom>
          <a:solidFill>
            <a:srgbClr val="2C4A7C"/>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Data and technology (tracking, forecasting, automation) have transformed this field fast — comfort with systems matters as much as organisation.</a:t>
            </a:r>
            <a:endParaRPr lang="en-US" sz="1400" dirty="0"/>
          </a:p>
        </p:txBody>
      </p:sp>
      <p:sp>
        <p:nvSpPr>
          <p:cNvPr id="12" name="Shape 10"/>
          <p:cNvSpPr/>
          <p:nvPr/>
        </p:nvSpPr>
        <p:spPr>
          <a:xfrm>
            <a:off x="548640" y="4471416"/>
            <a:ext cx="402336" cy="402336"/>
          </a:xfrm>
          <a:prstGeom prst="ellipse">
            <a:avLst/>
          </a:prstGeom>
          <a:solidFill>
            <a:srgbClr val="2C4A7C"/>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Procurement carries real financial responsibility and trust — a strategic role, not just paperwork.</a:t>
            </a:r>
            <a:endParaRPr lang="en-US" sz="1400" dirty="0"/>
          </a:p>
        </p:txBody>
      </p:sp>
      <p:sp>
        <p:nvSpPr>
          <p:cNvPr id="15" name="Shape 13"/>
          <p:cNvSpPr/>
          <p:nvPr/>
        </p:nvSpPr>
        <p:spPr>
          <a:xfrm>
            <a:off x="548640" y="5678424"/>
            <a:ext cx="402336" cy="402336"/>
          </a:xfrm>
          <a:prstGeom prst="ellipse">
            <a:avLst/>
          </a:prstGeom>
          <a:solidFill>
            <a:srgbClr val="2C4A7C"/>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Kenya's growing trade and e-commerce sector is creating real, immediate demand for this exact skill set.</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C4  ·  SUPPLY CHAIN, LOGISTICS &amp; PROCUREMENT  ·  ROOM C4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C4A7C"/>
                </a:solidFill>
                <a:latin typeface="Cambria" pitchFamily="34" charset="0"/>
                <a:ea typeface="Cambria" pitchFamily="34" charset="-122"/>
                <a:cs typeface="Cambria" pitchFamily="34" charset="-120"/>
              </a:rPr>
              <a:t>the warehouse floor and the boardroom both need you</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Logistics and procurement have long been coded as operational, warehouse-floor work — historically male-dominated spaces, especially in the more physical or field-based parts of the job. That coding has kept many capable women out of a field that's actually built on planning, negotiation, and systems-thinking, not physical strength. As supply chains modernise and go digital, the field is opening faster than most — and the skills it rewards (organisation, negotiation, calm under pressure) are ones girls are rarely told they have in abundance. Encourage them to see this as a wide-open field, not a niche one.</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C4  ·  SUPPLY CHAIN, LOGISTICS &amp; PROCUREMENT  ·  ROOM C4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2F6"/>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C4A7C"/>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Give groups a simple logistics puzzle (e.g. 'get 500 textbooks from a printer to 20 schools by Friday, one truck available') and have them plan a route and sequence.</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C4A7C"/>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the worst supply-chain disruption you've had to solve on the fly?</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has technology changed this job since you started?</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kept this field male-coded, and what's changing that?</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C4  ·  SUPPLY CHAIN, LOGISTICS &amp; PROCUREMENT  ·  ROOM C4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C4A7C"/>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trace one product from a shop shelf back to where it was made, and list every logistics decision that had to happen along the way.</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simple supply-chain map or diagram</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Any real shipment/procurement document if available</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C4 — Supply Chain, Logistics &amp; Procurement.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C4A7C"/>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C</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Business, Finance, Trade &amp; Leadership</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96A5BE"/>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C5</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Marketing, PR, Sales, Comms &amp; CX</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C5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2C4A7C"/>
                </a:solidFill>
                <a:latin typeface="Cambria" pitchFamily="34" charset="0"/>
                <a:ea typeface="Cambria" pitchFamily="34" charset="-122"/>
                <a:cs typeface="Cambria" pitchFamily="34" charset="-120"/>
              </a:rPr>
              <a:t>Every brand you trust earned that trust deliberately. This field is the craft behind how.</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Brand / Marketing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PR &amp; Communications Specialist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Sales Executive / Account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Customer Experience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Digital Marketing Specialist</a:t>
            </a:r>
            <a:endParaRPr lang="en-US" sz="1400" dirty="0"/>
          </a:p>
        </p:txBody>
      </p:sp>
      <p:sp>
        <p:nvSpPr>
          <p:cNvPr id="13" name="Shape 11"/>
          <p:cNvSpPr/>
          <p:nvPr/>
        </p:nvSpPr>
        <p:spPr>
          <a:xfrm>
            <a:off x="4114800" y="3886200"/>
            <a:ext cx="7589520" cy="1874520"/>
          </a:xfrm>
          <a:prstGeom prst="roundRect">
            <a:avLst>
              <a:gd name="adj" fmla="val 2927"/>
            </a:avLst>
          </a:prstGeom>
          <a:solidFill>
            <a:srgbClr val="EAEDF2"/>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2C4A7C"/>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them: if you're good at understanding people and telling a clear story, that's not a soft skill on the side of a career — in this field, it's the entire career, and it should be aimed squarely at the top, not just the middle.</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C5  ·  MARKETING, PR, SALES, COMMS &amp; CX  ·  ROOM C5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EEF1F5"/>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2C4A7C"/>
                </a:solidFill>
                <a:latin typeface="Cambria" pitchFamily="34" charset="0"/>
                <a:ea typeface="Cambria" pitchFamily="34" charset="-122"/>
                <a:cs typeface="Cambria" pitchFamily="34" charset="-120"/>
              </a:rPr>
              <a:t>"Every brand you trust earned that trust deliberately. This field is the craft behind how."</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Digital marketing and data have changed this field faster than almost any other in the last decade — genuinely current, in-demand, and welcoming to newcomers who can perform.</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C5  ·  MARKETING, PR, SALES, COMMS &amp; CX  ·  ROOM C5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0F2F6"/>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Brand / Marketing Manager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Shapes strategy and how a brand is perceived over time.</a:t>
            </a:r>
            <a:endParaRPr lang="en-US" sz="1200" dirty="0"/>
          </a:p>
        </p:txBody>
      </p:sp>
      <p:sp>
        <p:nvSpPr>
          <p:cNvPr id="9" name="Shape 7"/>
          <p:cNvSpPr/>
          <p:nvPr/>
        </p:nvSpPr>
        <p:spPr>
          <a:xfrm>
            <a:off x="6195060" y="1691640"/>
            <a:ext cx="5417820" cy="1447800"/>
          </a:xfrm>
          <a:prstGeom prst="roundRect">
            <a:avLst>
              <a:gd name="adj" fmla="val 4421"/>
            </a:avLst>
          </a:prstGeom>
          <a:solidFill>
            <a:srgbClr val="F0F2F6"/>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PR &amp; Communications Specialist</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Manages reputation and story — as much about crisis-handling as promotion.</a:t>
            </a:r>
            <a:endParaRPr lang="en-US" sz="1200" dirty="0"/>
          </a:p>
        </p:txBody>
      </p:sp>
      <p:sp>
        <p:nvSpPr>
          <p:cNvPr id="12" name="Shape 10"/>
          <p:cNvSpPr/>
          <p:nvPr/>
        </p:nvSpPr>
        <p:spPr>
          <a:xfrm>
            <a:off x="548640" y="3322320"/>
            <a:ext cx="5417820" cy="1447800"/>
          </a:xfrm>
          <a:prstGeom prst="roundRect">
            <a:avLst>
              <a:gd name="adj" fmla="val 4421"/>
            </a:avLst>
          </a:prstGeom>
          <a:solidFill>
            <a:srgbClr val="F0F2F6"/>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Sales Executive / Account Manager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One of the most merit-based, entry-friendly careers — performance is visible and measurable.</a:t>
            </a:r>
            <a:endParaRPr lang="en-US" sz="1200" dirty="0"/>
          </a:p>
        </p:txBody>
      </p:sp>
      <p:sp>
        <p:nvSpPr>
          <p:cNvPr id="15" name="Shape 13"/>
          <p:cNvSpPr/>
          <p:nvPr/>
        </p:nvSpPr>
        <p:spPr>
          <a:xfrm>
            <a:off x="6195060" y="3322320"/>
            <a:ext cx="5417820" cy="1447800"/>
          </a:xfrm>
          <a:prstGeom prst="roundRect">
            <a:avLst>
              <a:gd name="adj" fmla="val 4421"/>
            </a:avLst>
          </a:prstGeom>
          <a:solidFill>
            <a:srgbClr val="F0F2F6"/>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Customer Experience Manager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Makes sure customers stay happy and loyal after the sale, not just at it.</a:t>
            </a:r>
            <a:endParaRPr lang="en-US" sz="1200" dirty="0"/>
          </a:p>
        </p:txBody>
      </p:sp>
      <p:sp>
        <p:nvSpPr>
          <p:cNvPr id="18" name="Shape 16"/>
          <p:cNvSpPr/>
          <p:nvPr/>
        </p:nvSpPr>
        <p:spPr>
          <a:xfrm>
            <a:off x="548640" y="4953000"/>
            <a:ext cx="5417820" cy="1447800"/>
          </a:xfrm>
          <a:prstGeom prst="roundRect">
            <a:avLst>
              <a:gd name="adj" fmla="val 4421"/>
            </a:avLst>
          </a:prstGeom>
          <a:solidFill>
            <a:srgbClr val="F0F2F6"/>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2C4A7C"/>
                </a:solidFill>
                <a:latin typeface="Calibri" pitchFamily="34" charset="0"/>
                <a:ea typeface="Calibri" pitchFamily="34" charset="-122"/>
                <a:cs typeface="Calibri" pitchFamily="34" charset="-120"/>
              </a:rPr>
              <a:t>Digital Marketing Specialist</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Social, content, and data-driven marketing — the fastest-changing part of this field.</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C5  ·  MARKETING, PR, SALES, COMMS &amp; CX  ·  ROOM C5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2C4A7C"/>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Marketing, PR, sales, and CX are four related but distinct skills — name the difference clearly so students don't lump them into one vague idea.</a:t>
            </a:r>
            <a:endParaRPr lang="en-US" sz="1400" dirty="0"/>
          </a:p>
        </p:txBody>
      </p:sp>
      <p:sp>
        <p:nvSpPr>
          <p:cNvPr id="9" name="Shape 7"/>
          <p:cNvSpPr/>
          <p:nvPr/>
        </p:nvSpPr>
        <p:spPr>
          <a:xfrm>
            <a:off x="548640" y="3264408"/>
            <a:ext cx="402336" cy="402336"/>
          </a:xfrm>
          <a:prstGeom prst="ellipse">
            <a:avLst/>
          </a:prstGeom>
          <a:solidFill>
            <a:srgbClr val="2C4A7C"/>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Sales welcomes people from any academic background who can build trust and communicate — one of the most entry-friendly careers that exists.</a:t>
            </a:r>
            <a:endParaRPr lang="en-US" sz="1400" dirty="0"/>
          </a:p>
        </p:txBody>
      </p:sp>
      <p:sp>
        <p:nvSpPr>
          <p:cNvPr id="12" name="Shape 10"/>
          <p:cNvSpPr/>
          <p:nvPr/>
        </p:nvSpPr>
        <p:spPr>
          <a:xfrm>
            <a:off x="548640" y="4471416"/>
            <a:ext cx="402336" cy="402336"/>
          </a:xfrm>
          <a:prstGeom prst="ellipse">
            <a:avLst/>
          </a:prstGeom>
          <a:solidFill>
            <a:srgbClr val="2C4A7C"/>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Storytelling and genuine empathy for the customer's real problem matter more long-term than being 'persuasive.'</a:t>
            </a:r>
            <a:endParaRPr lang="en-US" sz="1400" dirty="0"/>
          </a:p>
        </p:txBody>
      </p:sp>
      <p:sp>
        <p:nvSpPr>
          <p:cNvPr id="15" name="Shape 13"/>
          <p:cNvSpPr/>
          <p:nvPr/>
        </p:nvSpPr>
        <p:spPr>
          <a:xfrm>
            <a:off x="548640" y="5678424"/>
            <a:ext cx="402336" cy="402336"/>
          </a:xfrm>
          <a:prstGeom prst="ellipse">
            <a:avLst/>
          </a:prstGeom>
          <a:solidFill>
            <a:srgbClr val="2C4A7C"/>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field offers a fast, visible path to leadership for people who perform early — brand manager, head of sales, communications director.</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C5  ·  MARKETING, PR, SALES, COMMS &amp; CX  ·  ROOM C5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2C4A7C"/>
                </a:solidFill>
                <a:latin typeface="Cambria" pitchFamily="34" charset="0"/>
                <a:ea typeface="Cambria" pitchFamily="34" charset="-122"/>
                <a:cs typeface="Cambria" pitchFamily="34" charset="-120"/>
              </a:rPr>
              <a:t>persuasive is a professional skill, not a personality flaw</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This field is genuinely more gender-balanced at entry level than most, which makes the pattern at the top more telling: the chief marketing officer's chair and the head-of-sales role still skew male far more than the graduate intake does. Girls are often praised for being 'good communicators' and then quietly not pushed toward the leadership tracks that skill actually leads to. Tell them: if you're good at understanding people and telling a clear story, that's not a soft skill on the side of a career — in this field, it's the entire career, and it should be aimed squarely at the top, not just the middle.</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C5  ·  MARKETING, PR, SALES, COMMS &amp; CX  ·  ROOM C5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0F2F6"/>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2C4A7C"/>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Pair students up — one 'sells' a random everyday object to the other in 90 seconds, then the group discusses what worked and why.</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2C4A7C"/>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campaign or pitch that failed, and what did you learn?</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handle a customer or client who's genuinely upset?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Why do you think leadership in this field is still more male than the entry level is?</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2C4A7C"/>
                </a:solidFill>
                <a:latin typeface="Calibri" pitchFamily="34" charset="0"/>
                <a:ea typeface="Calibri" pitchFamily="34" charset="-122"/>
                <a:cs typeface="Calibri" pitchFamily="34" charset="-120"/>
              </a:rPr>
              <a:t>C5  ·  MARKETING, PR, SALES, COMMS &amp; CX  ·  ROOM C5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2C4A7C"/>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pick one ad or campaign you see and try to identify exactly who it's targeting and what real need it's selling to.</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real campaign example (print, video, or social post) to show</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short case of a PR challenge and how it was handled</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C5 — Marketing, PR, Sales, Comms &amp; CX.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5B4B8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D</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Law, Governance, Public Service &amp; Faith</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ADA5C5"/>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D1</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Legal Practitioners</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D1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5B4B8A"/>
                </a:solidFill>
                <a:latin typeface="Cambria" pitchFamily="34" charset="0"/>
                <a:ea typeface="Cambria" pitchFamily="34" charset="-122"/>
                <a:cs typeface="Cambria" pitchFamily="34" charset="-120"/>
              </a:rPr>
              <a:t>The law only works for people who understand it — this is the profession that makes sure it works for everyone else too.</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Advocate / Litigator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Corporate / Commercial Lawyer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In-House Legal Counsel</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Judge / Magistrate</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Human Rights Lawyer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FEDF3"/>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5B4B8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students plainly: the top of this profession is not hypothetically open to women — it is currently held by one.</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D1  ·  LEGAL PRACTITIONERS  ·  ROOM D1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F2F1F6"/>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5B4B8A"/>
                </a:solidFill>
                <a:latin typeface="Cambria" pitchFamily="34" charset="0"/>
                <a:ea typeface="Cambria" pitchFamily="34" charset="-122"/>
                <a:cs typeface="Cambria" pitchFamily="34" charset="-120"/>
              </a:rPr>
              <a:t>"The law only works for people who understand it — this is the profession that makes sure it works for everyone else too."</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Kenya's legal profession shapes everything from business to human rights to constitutional change — and its most senior seat is currently held by a woman.</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D1  ·  LEGAL PRACTITIONERS  ·  ROOM D1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4F2F7"/>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Advocate / Litigator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Courtroom law — a smaller share of the real day-to-day than TV suggests.</a:t>
            </a:r>
            <a:endParaRPr lang="en-US" sz="1200" dirty="0"/>
          </a:p>
        </p:txBody>
      </p:sp>
      <p:sp>
        <p:nvSpPr>
          <p:cNvPr id="9" name="Shape 7"/>
          <p:cNvSpPr/>
          <p:nvPr/>
        </p:nvSpPr>
        <p:spPr>
          <a:xfrm>
            <a:off x="6195060" y="1691640"/>
            <a:ext cx="5417820" cy="1447800"/>
          </a:xfrm>
          <a:prstGeom prst="roundRect">
            <a:avLst>
              <a:gd name="adj" fmla="val 4421"/>
            </a:avLst>
          </a:prstGeom>
          <a:solidFill>
            <a:srgbClr val="F4F2F7"/>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Corporate / Commercial Lawyer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Advises businesses on contracts, deals, and compliance — high demand, high stakes.</a:t>
            </a:r>
            <a:endParaRPr lang="en-US" sz="1200" dirty="0"/>
          </a:p>
        </p:txBody>
      </p:sp>
      <p:sp>
        <p:nvSpPr>
          <p:cNvPr id="12" name="Shape 10"/>
          <p:cNvSpPr/>
          <p:nvPr/>
        </p:nvSpPr>
        <p:spPr>
          <a:xfrm>
            <a:off x="548640" y="3322320"/>
            <a:ext cx="5417820" cy="1447800"/>
          </a:xfrm>
          <a:prstGeom prst="roundRect">
            <a:avLst>
              <a:gd name="adj" fmla="val 4421"/>
            </a:avLst>
          </a:prstGeom>
          <a:solidFill>
            <a:srgbClr val="F4F2F7"/>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In-House Legal Counsel</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Works inside a company as its dedicated legal expert, not at an external firm.</a:t>
            </a:r>
            <a:endParaRPr lang="en-US" sz="1200" dirty="0"/>
          </a:p>
        </p:txBody>
      </p:sp>
      <p:sp>
        <p:nvSpPr>
          <p:cNvPr id="15" name="Shape 13"/>
          <p:cNvSpPr/>
          <p:nvPr/>
        </p:nvSpPr>
        <p:spPr>
          <a:xfrm>
            <a:off x="6195060" y="3322320"/>
            <a:ext cx="5417820" cy="1447800"/>
          </a:xfrm>
          <a:prstGeom prst="roundRect">
            <a:avLst>
              <a:gd name="adj" fmla="val 4421"/>
            </a:avLst>
          </a:prstGeom>
          <a:solidFill>
            <a:srgbClr val="F4F2F7"/>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Judge / Magistrate</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 career judiciary track — the profession's highest calling for many.</a:t>
            </a:r>
            <a:endParaRPr lang="en-US" sz="1200" dirty="0"/>
          </a:p>
        </p:txBody>
      </p:sp>
      <p:sp>
        <p:nvSpPr>
          <p:cNvPr id="18" name="Shape 16"/>
          <p:cNvSpPr/>
          <p:nvPr/>
        </p:nvSpPr>
        <p:spPr>
          <a:xfrm>
            <a:off x="548640" y="4953000"/>
            <a:ext cx="5417820" cy="1447800"/>
          </a:xfrm>
          <a:prstGeom prst="roundRect">
            <a:avLst>
              <a:gd name="adj" fmla="val 4421"/>
            </a:avLst>
          </a:prstGeom>
          <a:solidFill>
            <a:srgbClr val="F4F2F7"/>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Human Rights Lawyer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Uses legal training in service of public interest and constitutional protection.</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D1  ·  LEGAL PRACTITIONERS  ·  ROOM D1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5B4B8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Litigation is only one branch — corporate law, in-house counsel, and human rights advocacy are all thriving legal careers.</a:t>
            </a:r>
            <a:endParaRPr lang="en-US" sz="1400" dirty="0"/>
          </a:p>
        </p:txBody>
      </p:sp>
      <p:sp>
        <p:nvSpPr>
          <p:cNvPr id="9" name="Shape 7"/>
          <p:cNvSpPr/>
          <p:nvPr/>
        </p:nvSpPr>
        <p:spPr>
          <a:xfrm>
            <a:off x="548640" y="3264408"/>
            <a:ext cx="402336" cy="402336"/>
          </a:xfrm>
          <a:prstGeom prst="ellipse">
            <a:avLst/>
          </a:prstGeom>
          <a:solidFill>
            <a:srgbClr val="5B4B8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The actual job is mostly reading, research, drafting, and negotiation — courtroom appearances are a smaller slice than TV suggests.</a:t>
            </a:r>
            <a:endParaRPr lang="en-US" sz="1400" dirty="0"/>
          </a:p>
        </p:txBody>
      </p:sp>
      <p:sp>
        <p:nvSpPr>
          <p:cNvPr id="12" name="Shape 10"/>
          <p:cNvSpPr/>
          <p:nvPr/>
        </p:nvSpPr>
        <p:spPr>
          <a:xfrm>
            <a:off x="548640" y="4471416"/>
            <a:ext cx="402336" cy="402336"/>
          </a:xfrm>
          <a:prstGeom prst="ellipse">
            <a:avLst/>
          </a:prstGeom>
          <a:solidFill>
            <a:srgbClr val="5B4B8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In Kenya: an LLB degree, then the Kenya School of Law's Advocates Training Programme, then bar exams and admission — walk through the real timeline.</a:t>
            </a:r>
            <a:endParaRPr lang="en-US" sz="1400" dirty="0"/>
          </a:p>
        </p:txBody>
      </p:sp>
      <p:sp>
        <p:nvSpPr>
          <p:cNvPr id="15" name="Shape 13"/>
          <p:cNvSpPr/>
          <p:nvPr/>
        </p:nvSpPr>
        <p:spPr>
          <a:xfrm>
            <a:off x="548640" y="5678424"/>
            <a:ext cx="402336" cy="402336"/>
          </a:xfrm>
          <a:prstGeom prst="ellipse">
            <a:avLst/>
          </a:prstGeom>
          <a:solidFill>
            <a:srgbClr val="5B4B8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Being detail-oriented and comfortable with dense reading matters more day-to-day than being a natural public speaker.</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4F8"/>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D1  ·  LEGAL PRACTITIONERS  ·  ROOM D1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5B4B8A"/>
                </a:solidFill>
                <a:latin typeface="Cambria" pitchFamily="34" charset="0"/>
                <a:ea typeface="Cambria" pitchFamily="34" charset="-122"/>
                <a:cs typeface="Cambria" pitchFamily="34" charset="-120"/>
              </a:rPr>
              <a:t>Kenya's Chief Justice is a woman, and that's not an accident</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Martha Koome became Kenya's first female Chief Justice in 2021, leading the entire judiciary — the single highest legal office in the country. That is not a symbolic footnote; it is proof, from this country's own highest court, that there is no ceiling in this profession that a woman cannot reach. For years, senior litigation, top partnerships, and judicial appointments skewed heavily male, with women disproportionately advised toward 'quieter' legal work. Tell students plainly: the top of this profession is not hypothetically open to women — it is currently held by one. Aim exactly that high.</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D1  ·  LEGAL PRACTITIONERS  ·  ROOM D1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4F2F7"/>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5B4B8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Split the room into two 'sides' of a simple, low-stakes dispute and give them two minutes to negotiate a resolution — then unpack what legal skill that just demonstrated.</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5B4B8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case or negotiation that changed how you see this work?</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part of law school surprised you most?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did it mean to you when Kenya appointed its first female Chief Justice?</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D1  ·  LEGAL PRACTITIONERS  ·  ROOM D1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5B4B8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read one real (public) court judgment summary or a short legal-affairs news piece and notice the structure of the argument.</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An anonymised, simplified case summary to discuss</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copy of a real (non-confidential) contract clause or pleading excerpt, if comfortable sharing</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D1 — Legal Practitioners.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5B4B8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D</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Law, Governance, Public Service &amp; Faith</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ADA5C5"/>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D2</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Int'l Relations, Development &amp; Governance</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D2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5B4B8A"/>
                </a:solidFill>
                <a:latin typeface="Cambria" pitchFamily="34" charset="0"/>
                <a:ea typeface="Cambria" pitchFamily="34" charset="-122"/>
                <a:cs typeface="Cambria" pitchFamily="34" charset="-120"/>
              </a:rPr>
              <a:t>How countries talk to each other, and how aid and policy actually reach the people who need them — both are careers, built here, that shape the wider world.</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Diplomat / Foreign Service Officer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Civil Servant / Policy Advisor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International Organisation Officer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Development Programme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Political Risk Analyst</a:t>
            </a:r>
            <a:endParaRPr lang="en-US" sz="1400" dirty="0"/>
          </a:p>
        </p:txBody>
      </p:sp>
      <p:sp>
        <p:nvSpPr>
          <p:cNvPr id="13" name="Shape 11"/>
          <p:cNvSpPr/>
          <p:nvPr/>
        </p:nvSpPr>
        <p:spPr>
          <a:xfrm>
            <a:off x="4114800" y="3886200"/>
            <a:ext cx="7589520" cy="1874520"/>
          </a:xfrm>
          <a:prstGeom prst="roundRect">
            <a:avLst>
              <a:gd name="adj" fmla="val 2927"/>
            </a:avLst>
          </a:prstGeom>
          <a:solidFill>
            <a:srgbClr val="EFEDF3"/>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5B4B8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students the honest version: this field's history was built without you in mind, and its present is actively being rebuilt to include you.</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D2  ·  INT'L RELATIONS, DEVELOPMENT &amp; GOVERNANCE  ·  ROOM D2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F2F1F6"/>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5B4B8A"/>
                </a:solidFill>
                <a:latin typeface="Cambria" pitchFamily="34" charset="0"/>
                <a:ea typeface="Cambria" pitchFamily="34" charset="-122"/>
                <a:cs typeface="Cambria" pitchFamily="34" charset="-120"/>
              </a:rPr>
              <a:t>"How countries talk to each other, and how aid and policy actually reach the people who need them — both are careers, built here, that shape the wider world."</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Nairobi is a genuine regional and global diplomatic hub — real, local access to international careers most students assume happen only 'elsewhere.'</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D2  ·  INT'L RELATIONS, DEVELOPMENT &amp; GOVERNANCE  ·  ROOM D2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4F2F7"/>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Diplomat / Foreign Service Officer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Represents Kenya's interests abroad — real negotiation, real relationship-building.</a:t>
            </a:r>
            <a:endParaRPr lang="en-US" sz="1200" dirty="0"/>
          </a:p>
        </p:txBody>
      </p:sp>
      <p:sp>
        <p:nvSpPr>
          <p:cNvPr id="9" name="Shape 7"/>
          <p:cNvSpPr/>
          <p:nvPr/>
        </p:nvSpPr>
        <p:spPr>
          <a:xfrm>
            <a:off x="6195060" y="1691640"/>
            <a:ext cx="5417820" cy="1447800"/>
          </a:xfrm>
          <a:prstGeom prst="roundRect">
            <a:avLst>
              <a:gd name="adj" fmla="val 4421"/>
            </a:avLst>
          </a:prstGeom>
          <a:solidFill>
            <a:srgbClr val="F4F2F7"/>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Civil Servant / Policy Advisor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Shapes and implements the policies that run the country day to day.</a:t>
            </a:r>
            <a:endParaRPr lang="en-US" sz="1200" dirty="0"/>
          </a:p>
        </p:txBody>
      </p:sp>
      <p:sp>
        <p:nvSpPr>
          <p:cNvPr id="12" name="Shape 10"/>
          <p:cNvSpPr/>
          <p:nvPr/>
        </p:nvSpPr>
        <p:spPr>
          <a:xfrm>
            <a:off x="548640" y="3322320"/>
            <a:ext cx="5417820" cy="1447800"/>
          </a:xfrm>
          <a:prstGeom prst="roundRect">
            <a:avLst>
              <a:gd name="adj" fmla="val 4421"/>
            </a:avLst>
          </a:prstGeom>
          <a:solidFill>
            <a:srgbClr val="F4F2F7"/>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International Organisation Officer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UN and international-body roles — Nairobi hosts major UN offices, a real local pipeline.</a:t>
            </a:r>
            <a:endParaRPr lang="en-US" sz="1200" dirty="0"/>
          </a:p>
        </p:txBody>
      </p:sp>
      <p:sp>
        <p:nvSpPr>
          <p:cNvPr id="15" name="Shape 13"/>
          <p:cNvSpPr/>
          <p:nvPr/>
        </p:nvSpPr>
        <p:spPr>
          <a:xfrm>
            <a:off x="6195060" y="3322320"/>
            <a:ext cx="5417820" cy="1447800"/>
          </a:xfrm>
          <a:prstGeom prst="roundRect">
            <a:avLst>
              <a:gd name="adj" fmla="val 4421"/>
            </a:avLst>
          </a:prstGeom>
          <a:solidFill>
            <a:srgbClr val="F4F2F7"/>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Development Programme Manager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Runs the on-the-ground programmes that turn policy and funding into real impact.</a:t>
            </a:r>
            <a:endParaRPr lang="en-US" sz="1200" dirty="0"/>
          </a:p>
        </p:txBody>
      </p:sp>
      <p:sp>
        <p:nvSpPr>
          <p:cNvPr id="18" name="Shape 16"/>
          <p:cNvSpPr/>
          <p:nvPr/>
        </p:nvSpPr>
        <p:spPr>
          <a:xfrm>
            <a:off x="548640" y="4953000"/>
            <a:ext cx="5417820" cy="1447800"/>
          </a:xfrm>
          <a:prstGeom prst="roundRect">
            <a:avLst>
              <a:gd name="adj" fmla="val 4421"/>
            </a:avLst>
          </a:prstGeom>
          <a:solidFill>
            <a:srgbClr val="F4F2F7"/>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Political Risk Analyst</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Advises businesses and governments on political and economic risk.</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D2  ·  INT'L RELATIONS, DEVELOPMENT &amp; GOVERNANCE  ·  ROOM D2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5B4B8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field spans domestic public service, diplomacy, international organisations, and policy research — very different environments and timelines.</a:t>
            </a:r>
            <a:endParaRPr lang="en-US" sz="1400" dirty="0"/>
          </a:p>
        </p:txBody>
      </p:sp>
      <p:sp>
        <p:nvSpPr>
          <p:cNvPr id="9" name="Shape 7"/>
          <p:cNvSpPr/>
          <p:nvPr/>
        </p:nvSpPr>
        <p:spPr>
          <a:xfrm>
            <a:off x="548640" y="3264408"/>
            <a:ext cx="402336" cy="402336"/>
          </a:xfrm>
          <a:prstGeom prst="ellipse">
            <a:avLst/>
          </a:prstGeom>
          <a:solidFill>
            <a:srgbClr val="5B4B8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Institutional change is genuinely slow — be honest about the patience this work requires, and how you personally stay motivated through it.</a:t>
            </a:r>
            <a:endParaRPr lang="en-US" sz="1400" dirty="0"/>
          </a:p>
        </p:txBody>
      </p:sp>
      <p:sp>
        <p:nvSpPr>
          <p:cNvPr id="12" name="Shape 10"/>
          <p:cNvSpPr/>
          <p:nvPr/>
        </p:nvSpPr>
        <p:spPr>
          <a:xfrm>
            <a:off x="548640" y="4471416"/>
            <a:ext cx="402336" cy="402336"/>
          </a:xfrm>
          <a:prstGeom prst="ellipse">
            <a:avLst/>
          </a:prstGeom>
          <a:solidFill>
            <a:srgbClr val="5B4B8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Kenya's role as a UN and diplomatic hub (Nairobi hosts major UN offices) creates real, local access to this field.</a:t>
            </a:r>
            <a:endParaRPr lang="en-US" sz="1400" dirty="0"/>
          </a:p>
        </p:txBody>
      </p:sp>
      <p:sp>
        <p:nvSpPr>
          <p:cNvPr id="15" name="Shape 13"/>
          <p:cNvSpPr/>
          <p:nvPr/>
        </p:nvSpPr>
        <p:spPr>
          <a:xfrm>
            <a:off x="548640" y="5678424"/>
            <a:ext cx="402336" cy="402336"/>
          </a:xfrm>
          <a:prstGeom prst="ellipse">
            <a:avLst/>
          </a:prstGeom>
          <a:solidFill>
            <a:srgbClr val="5B4B8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work needs people who can hold strong personal conviction and the ability to work respectfully with people who see things very differently.</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4F8"/>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D2  ·  INT'L RELATIONS, DEVELOPMENT &amp; GOVERNANCE  ·  ROOM D2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5B4B8A"/>
                </a:solidFill>
                <a:latin typeface="Cambria" pitchFamily="34" charset="0"/>
                <a:ea typeface="Cambria" pitchFamily="34" charset="-122"/>
                <a:cs typeface="Cambria" pitchFamily="34" charset="-120"/>
              </a:rPr>
              <a:t>the ambassador's seat is not reserved for men anymore</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Diplomacy and foreign service were, for most of modern history, built almost entirely around men — women were often barred outright from the profession in many countries well into the 20th century. That history has left a long shadow: senior ambassadorial and ministerial posts in international relations still skew male worldwide, including in Kenya. But that shadow is visibly shortening — more women now hold ambassador and senior UN posts than at any point before. Tell students the honest version: this field's history was built without you in mind, and its present is actively being rebuilt to include you. Aim for the senior seat, not just the desk.</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D2  ·  INT'L RELATIONS, DEVELOPMENT &amp; GOVERNANCE  ·  ROOM D2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4F2F7"/>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5B4B8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Split the room into two 'countries' with a simple resource dispute (e.g. shared river water) and give them three minutes to negotiate an agreement.</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5B4B8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the slowest institutional change you've been part of, and how did you stay motivated?</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negotiate with someone who won't compromise?</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has this field changed for women since you entered it?</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D2  ·  INT'L RELATIONS, DEVELOPMENT &amp; GOVERNANCE  ·  ROOM D2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5B4B8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pick one current local or international policy issue and identify the different interest groups involved and what each wants.</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simplified real (or realistic) negotiation scenario</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Any relevant policy brief or diplomatic credential to show</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D2 — Int'l Relations, Development &amp; Governance.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5B4B8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D</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Law, Governance, Public Service &amp; Faith</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ADA5C5"/>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D3</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Uniformed &amp; National Security Services</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D3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5B4B8A"/>
                </a:solidFill>
                <a:latin typeface="Cambria" pitchFamily="34" charset="0"/>
                <a:ea typeface="Cambria" pitchFamily="34" charset="-122"/>
                <a:cs typeface="Cambria" pitchFamily="34" charset="-120"/>
              </a:rPr>
              <a:t>Someone has to hold the line — on the road, at the border, in a crisis. This field trains the people who do.</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Police / Administration Police Officer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Kenya Defence Forces Officer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Prisons Service Officer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Intelligence / Security Analyst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Immigration / Customs Officer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FEDF3"/>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5B4B8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The forces are actively looking for her, not tolerating her.</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D3  ·  UNIFORMED &amp; NATIONAL SECURITY SERVICES  ·  ROOM D3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F2F1F6"/>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5B4B8A"/>
                </a:solidFill>
                <a:latin typeface="Cambria" pitchFamily="34" charset="0"/>
                <a:ea typeface="Cambria" pitchFamily="34" charset="-122"/>
                <a:cs typeface="Cambria" pitchFamily="34" charset="-120"/>
              </a:rPr>
              <a:t>"Someone has to hold the line — on the road, at the border, in a crisis. This field trains the people who do."</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National security and public safety are foundational to everything else working — genuine, structured, respected careers.</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D3  ·  UNIFORMED &amp; NATIONAL SECURITY SERVICES  ·  ROOM D3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4F2F7"/>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Police / Administration Police Officer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Frontline public safety and law enforcement — structured training and real progression.</a:t>
            </a:r>
            <a:endParaRPr lang="en-US" sz="1200" dirty="0"/>
          </a:p>
        </p:txBody>
      </p:sp>
      <p:sp>
        <p:nvSpPr>
          <p:cNvPr id="9" name="Shape 7"/>
          <p:cNvSpPr/>
          <p:nvPr/>
        </p:nvSpPr>
        <p:spPr>
          <a:xfrm>
            <a:off x="6195060" y="1691640"/>
            <a:ext cx="5417820" cy="1447800"/>
          </a:xfrm>
          <a:prstGeom prst="roundRect">
            <a:avLst>
              <a:gd name="adj" fmla="val 4421"/>
            </a:avLst>
          </a:prstGeom>
          <a:solidFill>
            <a:srgbClr val="F4F2F7"/>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Kenya Defence Forces Officer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Multiple specialisms beyond combat — engineering, medicine, logistics, intelligence.</a:t>
            </a:r>
            <a:endParaRPr lang="en-US" sz="1200" dirty="0"/>
          </a:p>
        </p:txBody>
      </p:sp>
      <p:sp>
        <p:nvSpPr>
          <p:cNvPr id="12" name="Shape 10"/>
          <p:cNvSpPr/>
          <p:nvPr/>
        </p:nvSpPr>
        <p:spPr>
          <a:xfrm>
            <a:off x="548640" y="3322320"/>
            <a:ext cx="5417820" cy="1447800"/>
          </a:xfrm>
          <a:prstGeom prst="roundRect">
            <a:avLst>
              <a:gd name="adj" fmla="val 4421"/>
            </a:avLst>
          </a:prstGeom>
          <a:solidFill>
            <a:srgbClr val="F4F2F7"/>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Prisons Service Officer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Corrections and rehabilitation — a distinct, structured public service career.</a:t>
            </a:r>
            <a:endParaRPr lang="en-US" sz="1200" dirty="0"/>
          </a:p>
        </p:txBody>
      </p:sp>
      <p:sp>
        <p:nvSpPr>
          <p:cNvPr id="15" name="Shape 13"/>
          <p:cNvSpPr/>
          <p:nvPr/>
        </p:nvSpPr>
        <p:spPr>
          <a:xfrm>
            <a:off x="6195060" y="3322320"/>
            <a:ext cx="5417820" cy="1447800"/>
          </a:xfrm>
          <a:prstGeom prst="roundRect">
            <a:avLst>
              <a:gd name="adj" fmla="val 4421"/>
            </a:avLst>
          </a:prstGeom>
          <a:solidFill>
            <a:srgbClr val="F4F2F7"/>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Intelligence / Security Analyst</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Analytical, less physically demanding entry point into the security sector.</a:t>
            </a:r>
            <a:endParaRPr lang="en-US" sz="1200" dirty="0"/>
          </a:p>
        </p:txBody>
      </p:sp>
      <p:sp>
        <p:nvSpPr>
          <p:cNvPr id="18" name="Shape 16"/>
          <p:cNvSpPr/>
          <p:nvPr/>
        </p:nvSpPr>
        <p:spPr>
          <a:xfrm>
            <a:off x="548640" y="4953000"/>
            <a:ext cx="5417820" cy="1447800"/>
          </a:xfrm>
          <a:prstGeom prst="roundRect">
            <a:avLst>
              <a:gd name="adj" fmla="val 4421"/>
            </a:avLst>
          </a:prstGeom>
          <a:solidFill>
            <a:srgbClr val="F4F2F7"/>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Immigration / Customs Officer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Border and trade security — a steady, structured civil career.</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D3  ·  UNIFORMED &amp; NATIONAL SECURITY SERVICES  ·  ROOM D3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5B4B8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field spans far more than frontline patrol work — engineering, medicine, logistics, and analysis all exist inside the same forces.</a:t>
            </a:r>
            <a:endParaRPr lang="en-US" sz="1400" dirty="0"/>
          </a:p>
        </p:txBody>
      </p:sp>
      <p:sp>
        <p:nvSpPr>
          <p:cNvPr id="9" name="Shape 7"/>
          <p:cNvSpPr/>
          <p:nvPr/>
        </p:nvSpPr>
        <p:spPr>
          <a:xfrm>
            <a:off x="548640" y="3264408"/>
            <a:ext cx="402336" cy="402336"/>
          </a:xfrm>
          <a:prstGeom prst="ellipse">
            <a:avLst/>
          </a:prstGeom>
          <a:solidFill>
            <a:srgbClr val="5B4B8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Talk honestly about the discipline and physical/mental demands of training, and what actually motivated you to choose it.</a:t>
            </a:r>
            <a:endParaRPr lang="en-US" sz="1400" dirty="0"/>
          </a:p>
        </p:txBody>
      </p:sp>
      <p:sp>
        <p:nvSpPr>
          <p:cNvPr id="12" name="Shape 10"/>
          <p:cNvSpPr/>
          <p:nvPr/>
        </p:nvSpPr>
        <p:spPr>
          <a:xfrm>
            <a:off x="548640" y="4471416"/>
            <a:ext cx="402336" cy="402336"/>
          </a:xfrm>
          <a:prstGeom prst="ellipse">
            <a:avLst/>
          </a:prstGeom>
          <a:solidFill>
            <a:srgbClr val="5B4B8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Structured, merit-based progression is a real feature of these careers — rank and responsibility grow with proven capability.</a:t>
            </a:r>
            <a:endParaRPr lang="en-US" sz="1400" dirty="0"/>
          </a:p>
        </p:txBody>
      </p:sp>
      <p:sp>
        <p:nvSpPr>
          <p:cNvPr id="15" name="Shape 13"/>
          <p:cNvSpPr/>
          <p:nvPr/>
        </p:nvSpPr>
        <p:spPr>
          <a:xfrm>
            <a:off x="548640" y="5678424"/>
            <a:ext cx="402336" cy="402336"/>
          </a:xfrm>
          <a:prstGeom prst="ellipse">
            <a:avLst/>
          </a:prstGeom>
          <a:solidFill>
            <a:srgbClr val="5B4B8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Public trust and service are the core of this work — be candid about both the pride and the real weight of that responsibility.</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4F8"/>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D3  ·  UNIFORMED &amp; NATIONAL SECURITY SERVICES  ·  ROOM D3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5B4B8A"/>
                </a:solidFill>
                <a:latin typeface="Cambria" pitchFamily="34" charset="0"/>
                <a:ea typeface="Cambria" pitchFamily="34" charset="-122"/>
                <a:cs typeface="Cambria" pitchFamily="34" charset="-120"/>
              </a:rPr>
              <a:t>these forces are not asking permission to include you anymore, they're recruiting you</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For most of Kenya's history, uniformed and security services were built as male institutions by default, with women confined to a narrow set of support roles if admitted at all. That has changed substantially — women now serve across combat-support, command, and specialist roles in Kenya's police and defence forces, with active efforts to recruit and promote them further. The instinct to assume this path 'isn't for girls' is an old instinct, not a current fact. If a student in this room has ever imagined herself in this kind of service, tell her the forces are actively looking for her, not tolerating her.</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D3  ·  UNIFORMED &amp; NATIONAL SECURITY SERVICES  ·  ROOM D3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4F2F7"/>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5B4B8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Present a short, realistic decision-under-pressure scenario (a minor emergency requiring a fast, calm call) and have groups talk through their response.</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5B4B8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does training actually involve, day to day?</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moment that tested you the most in this work?</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changed for women in these forces since you joined?</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D3  ·  UNIFORMED &amp; NATIONAL SECURITY SERVICES  ·  ROOM D3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5B4B8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research one non-combat specialism inside Kenya's uniformed services you'd never considered before.</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uniform piece or insignia to show, if appropriate</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short, realistic decision-scenario for the activity</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D3 — Uniformed &amp; National Security Services.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5B4B8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D</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Law, Governance, Public Service &amp; Faith</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ADA5C5"/>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D4</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Theology &amp; Pastoral Care</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D4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5B4B8A"/>
                </a:solidFill>
                <a:latin typeface="Cambria" pitchFamily="34" charset="0"/>
                <a:ea typeface="Cambria" pitchFamily="34" charset="-122"/>
                <a:cs typeface="Cambria" pitchFamily="34" charset="-120"/>
              </a:rPr>
              <a:t>Some callings aren't measured in salary. This field is built entirely around service to others — and that's the whole point.</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Ordained Clergy / Pastor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Chaplaincy</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Faith-Based NGO Leadership</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Religious Education</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Pastoral Counsellor</a:t>
            </a:r>
            <a:endParaRPr lang="en-US" sz="1400" dirty="0"/>
          </a:p>
        </p:txBody>
      </p:sp>
      <p:sp>
        <p:nvSpPr>
          <p:cNvPr id="13" name="Shape 11"/>
          <p:cNvSpPr/>
          <p:nvPr/>
        </p:nvSpPr>
        <p:spPr>
          <a:xfrm>
            <a:off x="4114800" y="3886200"/>
            <a:ext cx="7589520" cy="1874520"/>
          </a:xfrm>
          <a:prstGeom prst="roundRect">
            <a:avLst>
              <a:gd name="adj" fmla="val 2927"/>
            </a:avLst>
          </a:prstGeom>
          <a:solidFill>
            <a:srgbClr val="EFEDF3"/>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5B4B8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Find out, specifically, what your own tradition allows and where its doors are already open — and walk fully into every space available to you.</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D4  ·  THEOLOGY &amp; PASTORAL CARE  ·  ROOM D4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F2F1F6"/>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5B4B8A"/>
                </a:solidFill>
                <a:latin typeface="Cambria" pitchFamily="34" charset="0"/>
                <a:ea typeface="Cambria" pitchFamily="34" charset="-122"/>
                <a:cs typeface="Cambria" pitchFamily="34" charset="-120"/>
              </a:rPr>
              <a:t>"Some callings aren't measured in salary. This field is built entirely around service to others — and that's the whole point."</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Faith communities remain central to Kenyan life, and pastoral leadership shapes how millions of people navigate their hardest moments.</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D4  ·  THEOLOGY &amp; PASTORAL CARE  ·  ROOM D4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4F2F7"/>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Ordained Clergy / Pastor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Leads a congregation — training and ordination paths vary by denomination.</a:t>
            </a:r>
            <a:endParaRPr lang="en-US" sz="1200" dirty="0"/>
          </a:p>
        </p:txBody>
      </p:sp>
      <p:sp>
        <p:nvSpPr>
          <p:cNvPr id="9" name="Shape 7"/>
          <p:cNvSpPr/>
          <p:nvPr/>
        </p:nvSpPr>
        <p:spPr>
          <a:xfrm>
            <a:off x="6195060" y="1691640"/>
            <a:ext cx="5417820" cy="1447800"/>
          </a:xfrm>
          <a:prstGeom prst="roundRect">
            <a:avLst>
              <a:gd name="adj" fmla="val 4421"/>
            </a:avLst>
          </a:prstGeom>
          <a:solidFill>
            <a:srgbClr val="F4F2F7"/>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Chaplaincy</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Pastoral care inside hospitals, schools, prisons, and the military.</a:t>
            </a:r>
            <a:endParaRPr lang="en-US" sz="1200" dirty="0"/>
          </a:p>
        </p:txBody>
      </p:sp>
      <p:sp>
        <p:nvSpPr>
          <p:cNvPr id="12" name="Shape 10"/>
          <p:cNvSpPr/>
          <p:nvPr/>
        </p:nvSpPr>
        <p:spPr>
          <a:xfrm>
            <a:off x="548640" y="3322320"/>
            <a:ext cx="5417820" cy="1447800"/>
          </a:xfrm>
          <a:prstGeom prst="roundRect">
            <a:avLst>
              <a:gd name="adj" fmla="val 4421"/>
            </a:avLst>
          </a:prstGeom>
          <a:solidFill>
            <a:srgbClr val="F4F2F7"/>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Faith-Based NGO Leadership</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Runs real programmes — health, education, relief — rooted in faith communities.</a:t>
            </a:r>
            <a:endParaRPr lang="en-US" sz="1200" dirty="0"/>
          </a:p>
        </p:txBody>
      </p:sp>
      <p:sp>
        <p:nvSpPr>
          <p:cNvPr id="15" name="Shape 13"/>
          <p:cNvSpPr/>
          <p:nvPr/>
        </p:nvSpPr>
        <p:spPr>
          <a:xfrm>
            <a:off x="6195060" y="3322320"/>
            <a:ext cx="5417820" cy="1447800"/>
          </a:xfrm>
          <a:prstGeom prst="roundRect">
            <a:avLst>
              <a:gd name="adj" fmla="val 4421"/>
            </a:avLst>
          </a:prstGeom>
          <a:solidFill>
            <a:srgbClr val="F4F2F7"/>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Religious Education</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Teaches faith and values formally, often alongside broader education work.</a:t>
            </a:r>
            <a:endParaRPr lang="en-US" sz="1200" dirty="0"/>
          </a:p>
        </p:txBody>
      </p:sp>
      <p:sp>
        <p:nvSpPr>
          <p:cNvPr id="18" name="Shape 16"/>
          <p:cNvSpPr/>
          <p:nvPr/>
        </p:nvSpPr>
        <p:spPr>
          <a:xfrm>
            <a:off x="548640" y="4953000"/>
            <a:ext cx="5417820" cy="1447800"/>
          </a:xfrm>
          <a:prstGeom prst="roundRect">
            <a:avLst>
              <a:gd name="adj" fmla="val 4421"/>
            </a:avLst>
          </a:prstGeom>
          <a:solidFill>
            <a:srgbClr val="F4F2F7"/>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Pastoral Counsellor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Combines counselling skill with spiritual care — a genuine, specialised profession.</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D4  ·  THEOLOGY &amp; PASTORAL CARE  ·  ROOM D4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5B4B8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field is as much about structured training and real responsibility as any other profession here — say that plainly, since it's often assumed to be 'just a calling.'</a:t>
            </a:r>
            <a:endParaRPr lang="en-US" sz="1400" dirty="0"/>
          </a:p>
        </p:txBody>
      </p:sp>
      <p:sp>
        <p:nvSpPr>
          <p:cNvPr id="9" name="Shape 7"/>
          <p:cNvSpPr/>
          <p:nvPr/>
        </p:nvSpPr>
        <p:spPr>
          <a:xfrm>
            <a:off x="548640" y="3264408"/>
            <a:ext cx="402336" cy="402336"/>
          </a:xfrm>
          <a:prstGeom prst="ellipse">
            <a:avLst/>
          </a:prstGeom>
          <a:solidFill>
            <a:srgbClr val="5B4B8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Chaplaincy and faith-based NGO leadership open this field into hospitals, schools, and humanitarian work, not only congregations.</a:t>
            </a:r>
            <a:endParaRPr lang="en-US" sz="1400" dirty="0"/>
          </a:p>
        </p:txBody>
      </p:sp>
      <p:sp>
        <p:nvSpPr>
          <p:cNvPr id="12" name="Shape 10"/>
          <p:cNvSpPr/>
          <p:nvPr/>
        </p:nvSpPr>
        <p:spPr>
          <a:xfrm>
            <a:off x="548640" y="4471416"/>
            <a:ext cx="402336" cy="402336"/>
          </a:xfrm>
          <a:prstGeom prst="ellipse">
            <a:avLst/>
          </a:prstGeom>
          <a:solidFill>
            <a:srgbClr val="5B4B8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 honest about the emotional weight of pastoral care, and how you personally sustain it long-term.</a:t>
            </a:r>
            <a:endParaRPr lang="en-US" sz="1400" dirty="0"/>
          </a:p>
        </p:txBody>
      </p:sp>
      <p:sp>
        <p:nvSpPr>
          <p:cNvPr id="15" name="Shape 13"/>
          <p:cNvSpPr/>
          <p:nvPr/>
        </p:nvSpPr>
        <p:spPr>
          <a:xfrm>
            <a:off x="548640" y="5678424"/>
            <a:ext cx="402336" cy="402336"/>
          </a:xfrm>
          <a:prstGeom prst="ellipse">
            <a:avLst/>
          </a:prstGeom>
          <a:solidFill>
            <a:srgbClr val="5B4B8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Different traditions open different doors at different paces — talk honestly about your own denomination's path, and encourage students to explore where their own tradition stands.</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4F8"/>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D4  ·  THEOLOGY &amp; PASTORAL CARE  ·  ROOM D4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5B4B8A"/>
                </a:solidFill>
                <a:latin typeface="Cambria" pitchFamily="34" charset="0"/>
                <a:ea typeface="Cambria" pitchFamily="34" charset="-122"/>
                <a:cs typeface="Cambria" pitchFamily="34" charset="-120"/>
              </a:rPr>
              <a:t>wherever the door is open, walk all the way through it</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Denominations differ, sometimes strongly, in how they welcome women into ordained and senior pastoral leadership — and that's a real, honest fact worth naming rather than glossing over. What's true across nearly all of them is that women have always carried enormous pastoral, spiritual, and community weight, whether or not it came with an official title. Encourage students to find out, specifically, what their own tradition allows and where its doors are already open — and to walk fully into every space available to them, rather than assuming a limit that may not actually apply.</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D4  ·  THEOLOGY &amp; PASTORAL CARE  ·  ROOM D4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4F2F7"/>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5B4B8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Discuss a short, real (anonymised) pastoral care scenario — someone facing grief or crisis — and have students talk through what support might look like.</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5B4B8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drew you specifically to this path?</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care for your own spiritual and emotional wellbeing while caring for others?</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has your own experience been navigating this field as a woman?</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D4  ·  THEOLOGY &amp; PASTORAL CARE  ·  ROOM D4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5B4B8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have one real conversation with someone in pastoral or faith leadership about what their week actually looks like.</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Any relevant, appropriate faith-community material</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short, respectful case example for discussion</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D4 — Theology &amp; Pastoral Care.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5B4B8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D</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Law, Governance, Public Service &amp; Faith</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ADA5C5"/>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D5</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Education</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D5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5B4B8A"/>
                </a:solidFill>
                <a:latin typeface="Cambria" pitchFamily="34" charset="0"/>
                <a:ea typeface="Cambria" pitchFamily="34" charset="-122"/>
                <a:cs typeface="Cambria" pitchFamily="34" charset="-120"/>
              </a:rPr>
              <a:t>Every profession in this building started with a teacher who believed a student could get there. This is that profession.</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Classroom Teacher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School Leader (Deputy/Head Teacher)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Curriculum Developer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Educational Psychologist / School Counsellor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EdTech Specialist</a:t>
            </a:r>
            <a:endParaRPr lang="en-US" sz="1400" dirty="0"/>
          </a:p>
        </p:txBody>
      </p:sp>
      <p:sp>
        <p:nvSpPr>
          <p:cNvPr id="13" name="Shape 11"/>
          <p:cNvSpPr/>
          <p:nvPr/>
        </p:nvSpPr>
        <p:spPr>
          <a:xfrm>
            <a:off x="4114800" y="3886200"/>
            <a:ext cx="7589520" cy="1874520"/>
          </a:xfrm>
          <a:prstGeom prst="roundRect">
            <a:avLst>
              <a:gd name="adj" fmla="val 2927"/>
            </a:avLst>
          </a:prstGeom>
          <a:solidFill>
            <a:srgbClr val="EFEDF3"/>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5B4B8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them: if you love this field, don't stop at loving the classroom — aim for the headteacher's office, the curriculum board, the ministry desk.</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D5  ·  EDUCATION  ·  ROOM D5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F2F1F6"/>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5B4B8A"/>
                </a:solidFill>
                <a:latin typeface="Cambria" pitchFamily="34" charset="0"/>
                <a:ea typeface="Cambria" pitchFamily="34" charset="-122"/>
                <a:cs typeface="Cambria" pitchFamily="34" charset="-120"/>
              </a:rPr>
              <a:t>"Every profession in this building started with a teacher who believed a student could get there. This is that profession."</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Every other career guide in this room exists because someone was taught to read, question, and dream bigger first — that's what this field builds.</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D5  ·  EDUCATION  ·  ROOM D5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4F2F7"/>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Classroom Teacher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 professional craft with real, learnable technique — not just 'liking kids.'</a:t>
            </a:r>
            <a:endParaRPr lang="en-US" sz="1200" dirty="0"/>
          </a:p>
        </p:txBody>
      </p:sp>
      <p:sp>
        <p:nvSpPr>
          <p:cNvPr id="9" name="Shape 7"/>
          <p:cNvSpPr/>
          <p:nvPr/>
        </p:nvSpPr>
        <p:spPr>
          <a:xfrm>
            <a:off x="6195060" y="1691640"/>
            <a:ext cx="5417820" cy="1447800"/>
          </a:xfrm>
          <a:prstGeom prst="roundRect">
            <a:avLst>
              <a:gd name="adj" fmla="val 4421"/>
            </a:avLst>
          </a:prstGeom>
          <a:solidFill>
            <a:srgbClr val="F4F2F7"/>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School Leader (Deputy/Head Teacher)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Real career progression from classroom teaching into institutional leadership.</a:t>
            </a:r>
            <a:endParaRPr lang="en-US" sz="1200" dirty="0"/>
          </a:p>
        </p:txBody>
      </p:sp>
      <p:sp>
        <p:nvSpPr>
          <p:cNvPr id="12" name="Shape 10"/>
          <p:cNvSpPr/>
          <p:nvPr/>
        </p:nvSpPr>
        <p:spPr>
          <a:xfrm>
            <a:off x="548640" y="3322320"/>
            <a:ext cx="5417820" cy="1447800"/>
          </a:xfrm>
          <a:prstGeom prst="roundRect">
            <a:avLst>
              <a:gd name="adj" fmla="val 4421"/>
            </a:avLst>
          </a:prstGeom>
          <a:solidFill>
            <a:srgbClr val="F4F2F7"/>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Curriculum Developer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Shapes what and how an entire generation is taught.</a:t>
            </a:r>
            <a:endParaRPr lang="en-US" sz="1200" dirty="0"/>
          </a:p>
        </p:txBody>
      </p:sp>
      <p:sp>
        <p:nvSpPr>
          <p:cNvPr id="15" name="Shape 13"/>
          <p:cNvSpPr/>
          <p:nvPr/>
        </p:nvSpPr>
        <p:spPr>
          <a:xfrm>
            <a:off x="6195060" y="3322320"/>
            <a:ext cx="5417820" cy="1447800"/>
          </a:xfrm>
          <a:prstGeom prst="roundRect">
            <a:avLst>
              <a:gd name="adj" fmla="val 4421"/>
            </a:avLst>
          </a:prstGeom>
          <a:solidFill>
            <a:srgbClr val="F4F2F7"/>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Educational Psychologist / School Counsellor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Supports students' learning and wellbeing directly — high, rising demand.</a:t>
            </a:r>
            <a:endParaRPr lang="en-US" sz="1200" dirty="0"/>
          </a:p>
        </p:txBody>
      </p:sp>
      <p:sp>
        <p:nvSpPr>
          <p:cNvPr id="18" name="Shape 16"/>
          <p:cNvSpPr/>
          <p:nvPr/>
        </p:nvSpPr>
        <p:spPr>
          <a:xfrm>
            <a:off x="548640" y="4953000"/>
            <a:ext cx="5417820" cy="1447800"/>
          </a:xfrm>
          <a:prstGeom prst="roundRect">
            <a:avLst>
              <a:gd name="adj" fmla="val 4421"/>
            </a:avLst>
          </a:prstGeom>
          <a:solidFill>
            <a:srgbClr val="F4F2F7"/>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5B4B8A"/>
                </a:solidFill>
                <a:latin typeface="Calibri" pitchFamily="34" charset="0"/>
                <a:ea typeface="Calibri" pitchFamily="34" charset="-122"/>
                <a:cs typeface="Calibri" pitchFamily="34" charset="-120"/>
              </a:rPr>
              <a:t>EdTech Specialist</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Learning technology and platforms — a fast-growing, technology-adjacent path.</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D5  ·  EDUCATION  ·  ROOM D5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5B4B8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Teaching is a professional craft — lesson design, classroom management, assessment — learnable and improvable, not just a matter of temperament.</a:t>
            </a:r>
            <a:endParaRPr lang="en-US" sz="1400" dirty="0"/>
          </a:p>
        </p:txBody>
      </p:sp>
      <p:sp>
        <p:nvSpPr>
          <p:cNvPr id="9" name="Shape 7"/>
          <p:cNvSpPr/>
          <p:nvPr/>
        </p:nvSpPr>
        <p:spPr>
          <a:xfrm>
            <a:off x="548640" y="3264408"/>
            <a:ext cx="402336" cy="402336"/>
          </a:xfrm>
          <a:prstGeom prst="ellipse">
            <a:avLst/>
          </a:prstGeom>
          <a:solidFill>
            <a:srgbClr val="5B4B8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There's real career progression: classroom teacher, head of department, deputy or head teacher, education policy leadership.</a:t>
            </a:r>
            <a:endParaRPr lang="en-US" sz="1400" dirty="0"/>
          </a:p>
        </p:txBody>
      </p:sp>
      <p:sp>
        <p:nvSpPr>
          <p:cNvPr id="12" name="Shape 10"/>
          <p:cNvSpPr/>
          <p:nvPr/>
        </p:nvSpPr>
        <p:spPr>
          <a:xfrm>
            <a:off x="548640" y="4471416"/>
            <a:ext cx="402336" cy="402336"/>
          </a:xfrm>
          <a:prstGeom prst="ellipse">
            <a:avLst/>
          </a:prstGeom>
          <a:solidFill>
            <a:srgbClr val="5B4B8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 honest about the invisible workload — planning and grading outside class time — alongside the real, direct impact of the job.</a:t>
            </a:r>
            <a:endParaRPr lang="en-US" sz="1400" dirty="0"/>
          </a:p>
        </p:txBody>
      </p:sp>
      <p:sp>
        <p:nvSpPr>
          <p:cNvPr id="15" name="Shape 13"/>
          <p:cNvSpPr/>
          <p:nvPr/>
        </p:nvSpPr>
        <p:spPr>
          <a:xfrm>
            <a:off x="548640" y="5678424"/>
            <a:ext cx="402336" cy="402336"/>
          </a:xfrm>
          <a:prstGeom prst="ellipse">
            <a:avLst/>
          </a:prstGeom>
          <a:solidFill>
            <a:srgbClr val="5B4B8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Talk about one specific student whose path you changed — concrete stories land far harder than general statements about impact.</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4F8"/>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D5  ·  EDUCATION  ·  ROOM D5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5B4B8A"/>
                </a:solidFill>
                <a:latin typeface="Cambria" pitchFamily="34" charset="0"/>
                <a:ea typeface="Cambria" pitchFamily="34" charset="-122"/>
                <a:cs typeface="Cambria" pitchFamily="34" charset="-120"/>
              </a:rPr>
              <a:t>teach the classroom, then lead the school</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Teaching in Kenya is a women-majority profession — but walk up the ladder to headteacher, especially in larger or mixed institutions, and the balance shifts back toward men, following almost exactly the same pattern seen across public health and education systems worldwide. Being brilliant at teaching is not the same as being encouraged to lead a school, and those are two different things students should hear named clearly. Tell them: if you love this field, don't stop at loving the classroom — aim for the headteacher's office, the curriculum board, the ministry desk. The profession needs women's leadership at the top exactly as much as it needs it at the front of the room.</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D5  ·  EDUCATION  ·  ROOM D5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4F2F7"/>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5B4B8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Give students two minutes to teach a partner one simple concept using no more than three sentences — debrief what made it land or not.</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5B4B8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student who changed how you teach?</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handle a class that just isn't 'getting it'?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Why do you think school leadership is still more male than the teaching profession itself?</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5B4B8A"/>
                </a:solidFill>
                <a:latin typeface="Calibri" pitchFamily="34" charset="0"/>
                <a:ea typeface="Calibri" pitchFamily="34" charset="-122"/>
                <a:cs typeface="Calibri" pitchFamily="34" charset="-120"/>
              </a:rPr>
              <a:t>D5  ·  EDUCATION  ·  ROOM D5</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5B4B8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teach someone one thing you know well, in under two minutes — notice how hard, and how rewarding, that actually is.</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lesson plan or teaching resource example</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short, real (anonymised) student-progress story</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D5 — Education.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B5473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E</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Creative Industries, Media, Hospitality &amp; Built Environment</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DAA39D"/>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E1</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Journalism &amp; The Media</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E1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B5473A"/>
                </a:solidFill>
                <a:latin typeface="Cambria" pitchFamily="34" charset="0"/>
                <a:ea typeface="Cambria" pitchFamily="34" charset="-122"/>
                <a:cs typeface="Cambria" pitchFamily="34" charset="-120"/>
              </a:rPr>
              <a:t>Someone has to find out what's true and say so clearly, even when it's inconvenient. That's the whole job.</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Print / Digital Journalist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Broadcast Reporter / Anchor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Photojournalist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Media Producer / Editor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Digital Content Creator</a:t>
            </a:r>
            <a:endParaRPr lang="en-US" sz="1400" dirty="0"/>
          </a:p>
        </p:txBody>
      </p:sp>
      <p:sp>
        <p:nvSpPr>
          <p:cNvPr id="13" name="Shape 11"/>
          <p:cNvSpPr/>
          <p:nvPr/>
        </p:nvSpPr>
        <p:spPr>
          <a:xfrm>
            <a:off x="4114800" y="3886200"/>
            <a:ext cx="7589520" cy="1874520"/>
          </a:xfrm>
          <a:prstGeom prst="roundRect">
            <a:avLst>
              <a:gd name="adj" fmla="val 2927"/>
            </a:avLst>
          </a:prstGeom>
          <a:solidFill>
            <a:srgbClr val="F8EDEB"/>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B5473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That ambition is exactly right-sized — ask directly for the assignments you want rather than waiting to be offered them.</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E1  ·  JOURNALISM &amp; THE MEDIA  ·  ROOM E1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F9F0EF"/>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B5473A"/>
                </a:solidFill>
                <a:latin typeface="Cambria" pitchFamily="34" charset="0"/>
                <a:ea typeface="Cambria" pitchFamily="34" charset="-122"/>
                <a:cs typeface="Cambria" pitchFamily="34" charset="-120"/>
              </a:rPr>
              <a:t>"Someone has to find out what's true and say so clearly, even when it's inconvenient. That's the whole job."</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Media literacy and trustworthy journalism matter more than ever — and Kenya's media landscape is a genuinely influential regional voice.</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E1  ·  JOURNALISM &amp; THE MEDIA  ·  ROOM E1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AF2F1"/>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Print / Digital Journalist</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Verification, clear writing, storytelling — skills that transfer across every format.</a:t>
            </a:r>
            <a:endParaRPr lang="en-US" sz="1200" dirty="0"/>
          </a:p>
        </p:txBody>
      </p:sp>
      <p:sp>
        <p:nvSpPr>
          <p:cNvPr id="9" name="Shape 7"/>
          <p:cNvSpPr/>
          <p:nvPr/>
        </p:nvSpPr>
        <p:spPr>
          <a:xfrm>
            <a:off x="6195060" y="1691640"/>
            <a:ext cx="5417820" cy="1447800"/>
          </a:xfrm>
          <a:prstGeom prst="roundRect">
            <a:avLst>
              <a:gd name="adj" fmla="val 4421"/>
            </a:avLst>
          </a:prstGeom>
          <a:solidFill>
            <a:srgbClr val="FAF2F1"/>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Broadcast Reporter / Anchor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Live, fast-paced, public-facing storytelling under real deadline pressure.</a:t>
            </a:r>
            <a:endParaRPr lang="en-US" sz="1200" dirty="0"/>
          </a:p>
        </p:txBody>
      </p:sp>
      <p:sp>
        <p:nvSpPr>
          <p:cNvPr id="12" name="Shape 10"/>
          <p:cNvSpPr/>
          <p:nvPr/>
        </p:nvSpPr>
        <p:spPr>
          <a:xfrm>
            <a:off x="548640" y="3322320"/>
            <a:ext cx="5417820" cy="1447800"/>
          </a:xfrm>
          <a:prstGeom prst="roundRect">
            <a:avLst>
              <a:gd name="adj" fmla="val 4421"/>
            </a:avLst>
          </a:prstGeom>
          <a:solidFill>
            <a:srgbClr val="FAF2F1"/>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Photojournalist</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Tells the story visually — a distinct, demanding craft in its own right.</a:t>
            </a:r>
            <a:endParaRPr lang="en-US" sz="1200" dirty="0"/>
          </a:p>
        </p:txBody>
      </p:sp>
      <p:sp>
        <p:nvSpPr>
          <p:cNvPr id="15" name="Shape 13"/>
          <p:cNvSpPr/>
          <p:nvPr/>
        </p:nvSpPr>
        <p:spPr>
          <a:xfrm>
            <a:off x="6195060" y="3322320"/>
            <a:ext cx="5417820" cy="1447800"/>
          </a:xfrm>
          <a:prstGeom prst="roundRect">
            <a:avLst>
              <a:gd name="adj" fmla="val 4421"/>
            </a:avLst>
          </a:prstGeom>
          <a:solidFill>
            <a:srgbClr val="FAF2F1"/>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Media Producer / Editor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Shapes what actually gets published or aired, and how.</a:t>
            </a:r>
            <a:endParaRPr lang="en-US" sz="1200" dirty="0"/>
          </a:p>
        </p:txBody>
      </p:sp>
      <p:sp>
        <p:nvSpPr>
          <p:cNvPr id="18" name="Shape 16"/>
          <p:cNvSpPr/>
          <p:nvPr/>
        </p:nvSpPr>
        <p:spPr>
          <a:xfrm>
            <a:off x="548640" y="4953000"/>
            <a:ext cx="5417820" cy="1447800"/>
          </a:xfrm>
          <a:prstGeom prst="roundRect">
            <a:avLst>
              <a:gd name="adj" fmla="val 4421"/>
            </a:avLst>
          </a:prstGeom>
          <a:solidFill>
            <a:srgbClr val="FAF2F1"/>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Digital Content Creator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 newer path — podcast, social, and multimedia storytelling roles that didn't exist a decade ago.</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E1  ·  JOURNALISM &amp; THE MEDIA  ·  ROOM E1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B5473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Journalism today spans traditional print/broadcast and a fast-growing digital/content world — the core skills transfer across all of them.</a:t>
            </a:r>
            <a:endParaRPr lang="en-US" sz="1400" dirty="0"/>
          </a:p>
        </p:txBody>
      </p:sp>
      <p:sp>
        <p:nvSpPr>
          <p:cNvPr id="9" name="Shape 7"/>
          <p:cNvSpPr/>
          <p:nvPr/>
        </p:nvSpPr>
        <p:spPr>
          <a:xfrm>
            <a:off x="548640" y="3264408"/>
            <a:ext cx="402336" cy="402336"/>
          </a:xfrm>
          <a:prstGeom prst="ellipse">
            <a:avLst/>
          </a:prstGeom>
          <a:solidFill>
            <a:srgbClr val="B5473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Ethics and verification are the real core of the job — talk about a real moment you had to check a fact under deadline pressure.</a:t>
            </a:r>
            <a:endParaRPr lang="en-US" sz="1400" dirty="0"/>
          </a:p>
        </p:txBody>
      </p:sp>
      <p:sp>
        <p:nvSpPr>
          <p:cNvPr id="12" name="Shape 10"/>
          <p:cNvSpPr/>
          <p:nvPr/>
        </p:nvSpPr>
        <p:spPr>
          <a:xfrm>
            <a:off x="548640" y="4471416"/>
            <a:ext cx="402336" cy="402336"/>
          </a:xfrm>
          <a:prstGeom prst="ellipse">
            <a:avLst/>
          </a:prstGeom>
          <a:solidFill>
            <a:srgbClr val="B5473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A strong portfolio increasingly matters as much as the degree — encourage students to start creating now, even informally.</a:t>
            </a:r>
            <a:endParaRPr lang="en-US" sz="1400" dirty="0"/>
          </a:p>
        </p:txBody>
      </p:sp>
      <p:sp>
        <p:nvSpPr>
          <p:cNvPr id="15" name="Shape 13"/>
          <p:cNvSpPr/>
          <p:nvPr/>
        </p:nvSpPr>
        <p:spPr>
          <a:xfrm>
            <a:off x="548640" y="5678424"/>
            <a:ext cx="402336" cy="402336"/>
          </a:xfrm>
          <a:prstGeom prst="ellipse">
            <a:avLst/>
          </a:prstGeom>
          <a:solidFill>
            <a:srgbClr val="B5473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Media literacy — knowing how to spot misinformation — is a skill this field teaches that's valuable for every student, not just future journalists.</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BF4F3"/>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E1  ·  JOURNALISM &amp; THE MEDIA  ·  ROOM E1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B5473A"/>
                </a:solidFill>
                <a:latin typeface="Cambria" pitchFamily="34" charset="0"/>
                <a:ea typeface="Cambria" pitchFamily="34" charset="-122"/>
                <a:cs typeface="Cambria" pitchFamily="34" charset="-120"/>
              </a:rPr>
              <a:t>ask for the hard beat, not just the 'nice' one</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Newsrooms have a long, well-documented pattern of steering women toward 'softer' beats — lifestyle, culture, human interest — while investigative, political, and hard-news assignments default to men, regardless of who's actually best suited to them. That pattern has nothing to do with talent and everything to do with old assumptions about what a credible, authoritative voice sounds like. If a student in this room wants to break real stories, cover politics, or lead a newsroom, tell her that ambition is exactly right-sized, and to ask directly for the assignments she wants rather than waiting to be offered them.</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E1  ·  JOURNALISM &amp; THE MEDIA  ·  ROOM E1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AF2F1"/>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B5473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Give groups a short, deliberately ambiguous 'news tip' and two minutes to list what they'd need to verify before publishing it.</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B5473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story you almost got wrong, and how did you catch it?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handle pressure to publish fast versus publish right?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Have you had to push to be assigned to a 'harder' story than you were offered?</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E1  ·  JOURNALISM &amp; THE MEDIA  ·  ROOM E1</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B5473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read one news story critically and list what sources it cites — notice how much verification is actually visible.</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published piece, photo, or clip of your own work</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short, ambiguous 'tip' scenario for the activity</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E1 — Journalism &amp; The Media.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B5473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E</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Creative Industries, Media, Hospitality &amp; Built Environment</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DAA39D"/>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E2</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Hospitality &amp; Tourism</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E2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B5473A"/>
                </a:solidFill>
                <a:latin typeface="Cambria" pitchFamily="34" charset="0"/>
                <a:ea typeface="Cambria" pitchFamily="34" charset="-122"/>
                <a:cs typeface="Cambria" pitchFamily="34" charset="-120"/>
              </a:rPr>
              <a:t>Someone plans the trip that becomes a lifelong memory. This field is that someone.</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Hotel / Resort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Event &amp; Conference Producer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Tour Operator / Safari Logistics Planner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Airline Cabin Crew / Ground Services</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Conservation Tourism Officer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F8EDEB"/>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B5473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them: if this world excites you, aim past the front desk and the events floor, toward general manager, toward ownership, toward running the whole operation.</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E2  ·  HOSPITALITY &amp; TOURISM  ·  ROOM E2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F9F0EF"/>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B5473A"/>
                </a:solidFill>
                <a:latin typeface="Cambria" pitchFamily="34" charset="0"/>
                <a:ea typeface="Cambria" pitchFamily="34" charset="-122"/>
                <a:cs typeface="Cambria" pitchFamily="34" charset="-120"/>
              </a:rPr>
              <a:t>"Someone plans the trip that becomes a lifelong memory. This field is that someone."</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Tourism is one of Kenya's most important industries, spanning safari and conservation tourism to hotels, aviation, and major events.</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E2  ·  HOSPITALITY &amp; TOURISM  ·  ROOM E2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AF2F1"/>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Hotel / Resort Manager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Runs the full guest experience and business operations of a property.</a:t>
            </a:r>
            <a:endParaRPr lang="en-US" sz="1200" dirty="0"/>
          </a:p>
        </p:txBody>
      </p:sp>
      <p:sp>
        <p:nvSpPr>
          <p:cNvPr id="9" name="Shape 7"/>
          <p:cNvSpPr/>
          <p:nvPr/>
        </p:nvSpPr>
        <p:spPr>
          <a:xfrm>
            <a:off x="6195060" y="1691640"/>
            <a:ext cx="5417820" cy="1447800"/>
          </a:xfrm>
          <a:prstGeom prst="roundRect">
            <a:avLst>
              <a:gd name="adj" fmla="val 4421"/>
            </a:avLst>
          </a:prstGeom>
          <a:solidFill>
            <a:srgbClr val="FAF2F1"/>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Event &amp; Conference Producer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Plans and delivers everything from weddings to major conferences.</a:t>
            </a:r>
            <a:endParaRPr lang="en-US" sz="1200" dirty="0"/>
          </a:p>
        </p:txBody>
      </p:sp>
      <p:sp>
        <p:nvSpPr>
          <p:cNvPr id="12" name="Shape 10"/>
          <p:cNvSpPr/>
          <p:nvPr/>
        </p:nvSpPr>
        <p:spPr>
          <a:xfrm>
            <a:off x="548640" y="3322320"/>
            <a:ext cx="5417820" cy="1447800"/>
          </a:xfrm>
          <a:prstGeom prst="roundRect">
            <a:avLst>
              <a:gd name="adj" fmla="val 4421"/>
            </a:avLst>
          </a:prstGeom>
          <a:solidFill>
            <a:srgbClr val="FAF2F1"/>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Tour Operator / Safari Logistics Planner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Builds real itineraries across Kenya's conservation and travel landscape.</a:t>
            </a:r>
            <a:endParaRPr lang="en-US" sz="1200" dirty="0"/>
          </a:p>
        </p:txBody>
      </p:sp>
      <p:sp>
        <p:nvSpPr>
          <p:cNvPr id="15" name="Shape 13"/>
          <p:cNvSpPr/>
          <p:nvPr/>
        </p:nvSpPr>
        <p:spPr>
          <a:xfrm>
            <a:off x="6195060" y="3322320"/>
            <a:ext cx="5417820" cy="1447800"/>
          </a:xfrm>
          <a:prstGeom prst="roundRect">
            <a:avLst>
              <a:gd name="adj" fmla="val 4421"/>
            </a:avLst>
          </a:prstGeom>
          <a:solidFill>
            <a:srgbClr val="FAF2F1"/>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Airline Cabin Crew / Ground Services</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Customer-facing aviation roles with real structured career paths.</a:t>
            </a:r>
            <a:endParaRPr lang="en-US" sz="1200" dirty="0"/>
          </a:p>
        </p:txBody>
      </p:sp>
      <p:sp>
        <p:nvSpPr>
          <p:cNvPr id="18" name="Shape 16"/>
          <p:cNvSpPr/>
          <p:nvPr/>
        </p:nvSpPr>
        <p:spPr>
          <a:xfrm>
            <a:off x="548640" y="4953000"/>
            <a:ext cx="5417820" cy="1447800"/>
          </a:xfrm>
          <a:prstGeom prst="roundRect">
            <a:avLst>
              <a:gd name="adj" fmla="val 4421"/>
            </a:avLst>
          </a:prstGeom>
          <a:solidFill>
            <a:srgbClr val="FAF2F1"/>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Conservation Tourism Officer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Blends this field directly with environmental and conservation work.</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E2  ·  HOSPITALITY &amp; TOURISM  ·  ROOM E2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B5473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This field spans hotels, events, travel, and conservation tourism — far more structured and varied than 'working in a hotel' suggests.</a:t>
            </a:r>
            <a:endParaRPr lang="en-US" sz="1400" dirty="0"/>
          </a:p>
        </p:txBody>
      </p:sp>
      <p:sp>
        <p:nvSpPr>
          <p:cNvPr id="9" name="Shape 7"/>
          <p:cNvSpPr/>
          <p:nvPr/>
        </p:nvSpPr>
        <p:spPr>
          <a:xfrm>
            <a:off x="548640" y="3264408"/>
            <a:ext cx="402336" cy="402336"/>
          </a:xfrm>
          <a:prstGeom prst="ellipse">
            <a:avLst/>
          </a:prstGeom>
          <a:solidFill>
            <a:srgbClr val="B5473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Soft skills matter as much as technical ones — composure under pressure, multilingual ability, genuine curiosity about people and places.</a:t>
            </a:r>
            <a:endParaRPr lang="en-US" sz="1400" dirty="0"/>
          </a:p>
        </p:txBody>
      </p:sp>
      <p:sp>
        <p:nvSpPr>
          <p:cNvPr id="12" name="Shape 10"/>
          <p:cNvSpPr/>
          <p:nvPr/>
        </p:nvSpPr>
        <p:spPr>
          <a:xfrm>
            <a:off x="548640" y="4471416"/>
            <a:ext cx="402336" cy="402336"/>
          </a:xfrm>
          <a:prstGeom prst="ellipse">
            <a:avLst/>
          </a:prstGeom>
          <a:solidFill>
            <a:srgbClr val="B5473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Kenya's conservation and community-based tourism are growing niches that blend this field directly with environmental work.</a:t>
            </a:r>
            <a:endParaRPr lang="en-US" sz="1400" dirty="0"/>
          </a:p>
        </p:txBody>
      </p:sp>
      <p:sp>
        <p:nvSpPr>
          <p:cNvPr id="15" name="Shape 13"/>
          <p:cNvSpPr/>
          <p:nvPr/>
        </p:nvSpPr>
        <p:spPr>
          <a:xfrm>
            <a:off x="548640" y="5678424"/>
            <a:ext cx="402336" cy="402336"/>
          </a:xfrm>
          <a:prstGeom prst="ellipse">
            <a:avLst/>
          </a:prstGeom>
          <a:solidFill>
            <a:srgbClr val="B5473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Dispel the idea that this is a 'fallback' career — many senior hotel and tourism leaders started at the front desk or as tour guides.</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BF4F3"/>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E2  ·  HOSPITALITY &amp; TOURISM  ·  ROOM E2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B5473A"/>
                </a:solidFill>
                <a:latin typeface="Cambria" pitchFamily="34" charset="0"/>
                <a:ea typeface="Cambria" pitchFamily="34" charset="-122"/>
                <a:cs typeface="Cambria" pitchFamily="34" charset="-120"/>
              </a:rPr>
              <a:t>run the hotel, not just staff the front desk</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Hospitality and tourism employ huge numbers of women at guest-facing and operational levels across Kenya — but general management, ownership, and executive leadership in the sector still lean male, a pattern that repeats almost exactly across every industry in this guide. The skills this sector actually prizes most — composure, multilingual fluency, genuine people-reading instinct — are ones girls are frequently praised for and rarely pointed toward the top job because of. Tell them: if this world excites you, aim past the front desk and the events floor, toward general manager, toward ownership, toward running the whole operation.</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E2  ·  HOSPITALITY &amp; TOURISM  ·  ROOM E2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AF2F1"/>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B5473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Give small groups a one-line 'guest problem' (a delayed flight, a double-booked room) and 60 seconds to propose a fix — then discuss what skill that just used.</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B5473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the hardest part of your job that people don't expect?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did you get your very first role in this field?</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would it take to see more women running hotels and tourism companies, not just staffing them?</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E2  ·  HOSPITALITY &amp; TOURISM  ·  ROOM E2</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B5473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look up one hospitality or tourism company in Kenya and read its 'careers' page — notice how many job titles exist under one roof.</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short photo/slide of a real itinerary, floor plan, or event run-sheet you've actually used</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Business card or company lanyard to pass around</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E2 — Hospitality &amp; Tourism.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B5473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E</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Creative Industries, Media, Hospitality &amp; Built Environment</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DAA39D"/>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E3</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The Arts — Applied, Visual, Performing &amp; Literary</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E3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B5473A"/>
                </a:solidFill>
                <a:latin typeface="Cambria" pitchFamily="34" charset="0"/>
                <a:ea typeface="Cambria" pitchFamily="34" charset="-122"/>
                <a:cs typeface="Cambria" pitchFamily="34" charset="-120"/>
              </a:rPr>
              <a:t>Someone has to imagine what doesn't exist yet, and then make it real. That's a job, not just a talent.</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Visual Artist / Graphic Designer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Performing Artist (music, theatre, dance)</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Fashion Designer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Film / Media Producer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Writer / Author</a:t>
            </a:r>
            <a:endParaRPr lang="en-US" sz="1400" dirty="0"/>
          </a:p>
        </p:txBody>
      </p:sp>
      <p:sp>
        <p:nvSpPr>
          <p:cNvPr id="13" name="Shape 11"/>
          <p:cNvSpPr/>
          <p:nvPr/>
        </p:nvSpPr>
        <p:spPr>
          <a:xfrm>
            <a:off x="4114800" y="3886200"/>
            <a:ext cx="7589520" cy="1874520"/>
          </a:xfrm>
          <a:prstGeom prst="roundRect">
            <a:avLst>
              <a:gd name="adj" fmla="val 2927"/>
            </a:avLst>
          </a:prstGeom>
          <a:solidFill>
            <a:srgbClr val="F8EDEB"/>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B5473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students plainly: if this is where their talent and energy already go, that is not something to grow out of — it's something to professionalise, on purpose, starting now.</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E3  ·  THE ARTS — APPLIED, VISUAL, PERFORMING &amp; LITERARY  ·  ROOM E3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F9F0EF"/>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B5473A"/>
                </a:solidFill>
                <a:latin typeface="Cambria" pitchFamily="34" charset="0"/>
                <a:ea typeface="Cambria" pitchFamily="34" charset="-122"/>
                <a:cs typeface="Cambria" pitchFamily="34" charset="-120"/>
              </a:rPr>
              <a:t>"Someone has to imagine what doesn't exist yet, and then make it real. That's a job, not just a talent."</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Kenya's creative economy — film, music, fashion, writing, digital content — is genuinely growing and increasingly monetisable, not a fallback path.</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E3  ·  THE ARTS — APPLIED, VISUAL, PERFORMING &amp; LITERARY  ·  ROOM E3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AF2F1"/>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Visual Artist / Graphic Designer</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Builds a portfolio-driven creative career across fine art and commercial design.</a:t>
            </a:r>
            <a:endParaRPr lang="en-US" sz="1200" dirty="0"/>
          </a:p>
        </p:txBody>
      </p:sp>
      <p:sp>
        <p:nvSpPr>
          <p:cNvPr id="9" name="Shape 7"/>
          <p:cNvSpPr/>
          <p:nvPr/>
        </p:nvSpPr>
        <p:spPr>
          <a:xfrm>
            <a:off x="6195060" y="1691640"/>
            <a:ext cx="5417820" cy="1447800"/>
          </a:xfrm>
          <a:prstGeom prst="roundRect">
            <a:avLst>
              <a:gd name="adj" fmla="val 4421"/>
            </a:avLst>
          </a:prstGeom>
          <a:solidFill>
            <a:srgbClr val="FAF2F1"/>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Performing Artist (music, theatre, dance)</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A real, structured career built on craft, discipline, and consistent practice.</a:t>
            </a:r>
            <a:endParaRPr lang="en-US" sz="1200" dirty="0"/>
          </a:p>
        </p:txBody>
      </p:sp>
      <p:sp>
        <p:nvSpPr>
          <p:cNvPr id="12" name="Shape 10"/>
          <p:cNvSpPr/>
          <p:nvPr/>
        </p:nvSpPr>
        <p:spPr>
          <a:xfrm>
            <a:off x="548640" y="3322320"/>
            <a:ext cx="5417820" cy="1447800"/>
          </a:xfrm>
          <a:prstGeom prst="roundRect">
            <a:avLst>
              <a:gd name="adj" fmla="val 4421"/>
            </a:avLst>
          </a:prstGeom>
          <a:solidFill>
            <a:srgbClr val="FAF2F1"/>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Fashion Designer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Combines design, business, and production skill into a real product.</a:t>
            </a:r>
            <a:endParaRPr lang="en-US" sz="1200" dirty="0"/>
          </a:p>
        </p:txBody>
      </p:sp>
      <p:sp>
        <p:nvSpPr>
          <p:cNvPr id="15" name="Shape 13"/>
          <p:cNvSpPr/>
          <p:nvPr/>
        </p:nvSpPr>
        <p:spPr>
          <a:xfrm>
            <a:off x="6195060" y="3322320"/>
            <a:ext cx="5417820" cy="1447800"/>
          </a:xfrm>
          <a:prstGeom prst="roundRect">
            <a:avLst>
              <a:gd name="adj" fmla="val 4421"/>
            </a:avLst>
          </a:prstGeom>
          <a:solidFill>
            <a:srgbClr val="FAF2F1"/>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Film / Media Producer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Turns a creative concept into a delivered, real production.</a:t>
            </a:r>
            <a:endParaRPr lang="en-US" sz="1200" dirty="0"/>
          </a:p>
        </p:txBody>
      </p:sp>
      <p:sp>
        <p:nvSpPr>
          <p:cNvPr id="18" name="Shape 16"/>
          <p:cNvSpPr/>
          <p:nvPr/>
        </p:nvSpPr>
        <p:spPr>
          <a:xfrm>
            <a:off x="548640" y="4953000"/>
            <a:ext cx="5417820" cy="1447800"/>
          </a:xfrm>
          <a:prstGeom prst="roundRect">
            <a:avLst>
              <a:gd name="adj" fmla="val 4421"/>
            </a:avLst>
          </a:prstGeom>
          <a:solidFill>
            <a:srgbClr val="FAF2F1"/>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Writer / Author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Fiction, journalism-adjacent, or content writing — a craft you can start building today.</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E3  ·  THE ARTS — APPLIED, VISUAL, PERFORMING &amp; LITERARY  ·  ROOM E3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B5473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Creative careers span visual art, performance, fashion, film, and writing — most successful creatives combine craft skill with real business skills.</a:t>
            </a:r>
            <a:endParaRPr lang="en-US" sz="1400" dirty="0"/>
          </a:p>
        </p:txBody>
      </p:sp>
      <p:sp>
        <p:nvSpPr>
          <p:cNvPr id="9" name="Shape 7"/>
          <p:cNvSpPr/>
          <p:nvPr/>
        </p:nvSpPr>
        <p:spPr>
          <a:xfrm>
            <a:off x="548640" y="3264408"/>
            <a:ext cx="402336" cy="402336"/>
          </a:xfrm>
          <a:prstGeom prst="ellipse">
            <a:avLst/>
          </a:prstGeom>
          <a:solidFill>
            <a:srgbClr val="B5473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 candid about early income variability, and how professionals build stability (teaching, commercial work, multiple income streams).</a:t>
            </a:r>
            <a:endParaRPr lang="en-US" sz="1400" dirty="0"/>
          </a:p>
        </p:txBody>
      </p:sp>
      <p:sp>
        <p:nvSpPr>
          <p:cNvPr id="12" name="Shape 10"/>
          <p:cNvSpPr/>
          <p:nvPr/>
        </p:nvSpPr>
        <p:spPr>
          <a:xfrm>
            <a:off x="548640" y="4471416"/>
            <a:ext cx="402336" cy="402336"/>
          </a:xfrm>
          <a:prstGeom prst="ellipse">
            <a:avLst/>
          </a:prstGeom>
          <a:solidFill>
            <a:srgbClr val="B5473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A portfolio, not just a certificate, is usually what gets you hired or booked — talk about starting one now, even in school.</a:t>
            </a:r>
            <a:endParaRPr lang="en-US" sz="1400" dirty="0"/>
          </a:p>
        </p:txBody>
      </p:sp>
      <p:sp>
        <p:nvSpPr>
          <p:cNvPr id="15" name="Shape 13"/>
          <p:cNvSpPr/>
          <p:nvPr/>
        </p:nvSpPr>
        <p:spPr>
          <a:xfrm>
            <a:off x="548640" y="5678424"/>
            <a:ext cx="402336" cy="402336"/>
          </a:xfrm>
          <a:prstGeom prst="ellipse">
            <a:avLst/>
          </a:prstGeom>
          <a:solidFill>
            <a:srgbClr val="B5473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Rejection and critique are a normal, constant part of creative careers — resilience is as much a skill here as talent.</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BF4F3"/>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E3  ·  THE ARTS — APPLIED, VISUAL, PERFORMING &amp; LITERARY  ·  ROOM E3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B5473A"/>
                </a:solidFill>
                <a:latin typeface="Cambria" pitchFamily="34" charset="0"/>
                <a:ea typeface="Cambria" pitchFamily="34" charset="-122"/>
                <a:cs typeface="Cambria" pitchFamily="34" charset="-120"/>
              </a:rPr>
              <a:t>this is a career choice, not a phase to grow out of</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Creative ambition in girls is very often treated as a hobby to be gently redirected toward something 'more practical,' in a way boys' creative ambition rarely is. That instinct — kindly meant, often repeated — quietly convinces talented girls to abandon exactly the skill that could become their real profession. Kenya's creative economy is genuinely growing, genuinely paying, and genuinely open. Tell students plainly: if this is where their talent and energy already go, that is not something to grow out of — it's something to professionalise, on purpose, starting now.</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E3  ·  THE ARTS — APPLIED, VISUAL, PERFORMING &amp; LITERARY  ·  ROOM E3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AF2F1"/>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B5473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A three-minute rapid creative challenge — sketch an object from memory, hum an 8-count rhythm, or pitch a one-line film concept — then discuss what discipline that took.</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B5473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do you handle rejection or harsh critique?</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How did you build your first portfolio or body of work?</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Were you ever told this 'wasn't a real career' — and how did you answer that?</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E3  ·  THE ARTS — APPLIED, VISUAL, PERFORMING &amp; LITERARY  ·  ROOM E3</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B5473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start, or add one piece to, a simple portfolio — even a phone folder of your best work counts as a start.</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physical or digital portfolio sample to show</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prop relevant to your discipline (instrument, sketchbook, fabric swatch, script page)</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E3 — The Arts — Applied, Visual, Performing &amp; Literary. Every slide in this set is a starting point: adapt the order, cut what doesn't fit, and bring your own story wherever it lands better than ours.</a:t>
            </a:r>
            <a:endParaRPr lang="en-US" sz="12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B5473A"/>
          </a:solidFill>
          <a:ln/>
        </p:spPr>
      </p:sp>
      <p:sp>
        <p:nvSpPr>
          <p:cNvPr id="3" name="Text 1"/>
          <p:cNvSpPr/>
          <p:nvPr/>
        </p:nvSpPr>
        <p:spPr>
          <a:xfrm>
            <a:off x="365760" y="457200"/>
            <a:ext cx="2926080" cy="32004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ZONE E</a:t>
            </a:r>
            <a:endParaRPr lang="en-US" sz="1300" dirty="0"/>
          </a:p>
        </p:txBody>
      </p:sp>
      <p:sp>
        <p:nvSpPr>
          <p:cNvPr id="4" name="Text 2"/>
          <p:cNvSpPr/>
          <p:nvPr/>
        </p:nvSpPr>
        <p:spPr>
          <a:xfrm>
            <a:off x="365760" y="777240"/>
            <a:ext cx="2926080" cy="640080"/>
          </a:xfrm>
          <a:prstGeom prst="rect">
            <a:avLst/>
          </a:prstGeom>
          <a:noFill/>
          <a:ln/>
        </p:spPr>
        <p:txBody>
          <a:bodyPr wrap="square" rtlCol="0" anchor="ctr"/>
          <a:lstStyle/>
          <a:p>
            <a:pPr indent="0" marL="0">
              <a:lnSpc>
                <a:spcPct val="115000"/>
              </a:lnSpc>
              <a:buNone/>
            </a:pPr>
            <a:r>
              <a:rPr lang="en-US" sz="1200" i="1" dirty="0">
                <a:solidFill>
                  <a:srgbClr val="FFFFFF"/>
                </a:solidFill>
                <a:latin typeface="Calibri" pitchFamily="34" charset="0"/>
                <a:ea typeface="Calibri" pitchFamily="34" charset="-122"/>
                <a:cs typeface="Calibri" pitchFamily="34" charset="-120"/>
              </a:rPr>
              <a:t>Creative Industries, Media, Hospitality &amp; Built Environment</a:t>
            </a:r>
            <a:endParaRPr lang="en-US" sz="1200" dirty="0"/>
          </a:p>
        </p:txBody>
      </p:sp>
      <p:sp>
        <p:nvSpPr>
          <p:cNvPr id="5" name="Text 3"/>
          <p:cNvSpPr/>
          <p:nvPr/>
        </p:nvSpPr>
        <p:spPr>
          <a:xfrm>
            <a:off x="365760" y="1463040"/>
            <a:ext cx="2926080" cy="228600"/>
          </a:xfrm>
          <a:prstGeom prst="rect">
            <a:avLst/>
          </a:prstGeom>
          <a:noFill/>
          <a:ln/>
        </p:spPr>
        <p:txBody>
          <a:bodyPr wrap="square" rtlCol="0" anchor="ctr"/>
          <a:lstStyle/>
          <a:p>
            <a:pPr indent="0" marL="0">
              <a:buNone/>
            </a:pPr>
            <a:r>
              <a:rPr lang="en-US" sz="950" dirty="0">
                <a:solidFill>
                  <a:srgbClr val="DAA39D"/>
                </a:solidFill>
                <a:latin typeface="Calibri" pitchFamily="34" charset="0"/>
                <a:ea typeface="Calibri" pitchFamily="34" charset="-122"/>
                <a:cs typeface="Calibri" pitchFamily="34" charset="-120"/>
              </a:rPr>
              <a:t>1 / 7</a:t>
            </a:r>
            <a:endParaRPr lang="en-US" sz="950" dirty="0"/>
          </a:p>
        </p:txBody>
      </p:sp>
      <p:sp>
        <p:nvSpPr>
          <p:cNvPr id="6" name="Text 4"/>
          <p:cNvSpPr/>
          <p:nvPr/>
        </p:nvSpPr>
        <p:spPr>
          <a:xfrm>
            <a:off x="320040" y="1737360"/>
            <a:ext cx="3017520" cy="1371600"/>
          </a:xfrm>
          <a:prstGeom prst="rect">
            <a:avLst/>
          </a:prstGeom>
          <a:noFill/>
          <a:ln/>
        </p:spPr>
        <p:txBody>
          <a:bodyPr wrap="square"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E4</a:t>
            </a:r>
            <a:endParaRPr lang="en-US" sz="9600" dirty="0"/>
          </a:p>
        </p:txBody>
      </p:sp>
      <p:sp>
        <p:nvSpPr>
          <p:cNvPr id="7" name="Text 5"/>
          <p:cNvSpPr/>
          <p:nvPr/>
        </p:nvSpPr>
        <p:spPr>
          <a:xfrm>
            <a:off x="365760" y="3246120"/>
            <a:ext cx="2926080" cy="1371600"/>
          </a:xfrm>
          <a:prstGeom prst="rect">
            <a:avLst/>
          </a:prstGeom>
          <a:noFill/>
          <a:ln/>
        </p:spPr>
        <p:txBody>
          <a:bodyPr wrap="square"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The Built Environment &amp; Real Estate</a:t>
            </a:r>
            <a:endParaRPr lang="en-US" sz="2400" dirty="0"/>
          </a:p>
        </p:txBody>
      </p:sp>
      <p:sp>
        <p:nvSpPr>
          <p:cNvPr id="8" name="Shape 6"/>
          <p:cNvSpPr/>
          <p:nvPr/>
        </p:nvSpPr>
        <p:spPr>
          <a:xfrm>
            <a:off x="365760" y="5989320"/>
            <a:ext cx="2926080" cy="502920"/>
          </a:xfrm>
          <a:prstGeom prst="roundRect">
            <a:avLst>
              <a:gd name="adj" fmla="val 10909"/>
            </a:avLst>
          </a:prstGeom>
          <a:solidFill>
            <a:srgbClr val="FFFFFF">
              <a:alpha val="18000"/>
            </a:srgbClr>
          </a:solidFill>
          <a:ln/>
        </p:spPr>
      </p:sp>
      <p:sp>
        <p:nvSpPr>
          <p:cNvPr id="9" name="Text 7"/>
          <p:cNvSpPr/>
          <p:nvPr/>
        </p:nvSpPr>
        <p:spPr>
          <a:xfrm>
            <a:off x="365760" y="5989320"/>
            <a:ext cx="29260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ROOM E4  ·  placeholder</a:t>
            </a:r>
            <a:endParaRPr lang="en-US" sz="1300" dirty="0"/>
          </a:p>
        </p:txBody>
      </p:sp>
      <p:sp>
        <p:nvSpPr>
          <p:cNvPr id="10" name="Text 8"/>
          <p:cNvSpPr/>
          <p:nvPr/>
        </p:nvSpPr>
        <p:spPr>
          <a:xfrm>
            <a:off x="4114800" y="365760"/>
            <a:ext cx="7589520" cy="1097280"/>
          </a:xfrm>
          <a:prstGeom prst="rect">
            <a:avLst/>
          </a:prstGeom>
          <a:noFill/>
          <a:ln/>
        </p:spPr>
        <p:txBody>
          <a:bodyPr wrap="square" rtlCol="0" anchor="ctr"/>
          <a:lstStyle/>
          <a:p>
            <a:pPr indent="0" marL="0">
              <a:lnSpc>
                <a:spcPct val="115000"/>
              </a:lnSpc>
              <a:buNone/>
            </a:pPr>
            <a:r>
              <a:rPr lang="en-US" sz="1700" b="1" i="1" dirty="0">
                <a:solidFill>
                  <a:srgbClr val="B5473A"/>
                </a:solidFill>
                <a:latin typeface="Cambria" pitchFamily="34" charset="0"/>
                <a:ea typeface="Cambria" pitchFamily="34" charset="-122"/>
                <a:cs typeface="Cambria" pitchFamily="34" charset="-120"/>
              </a:rPr>
              <a:t>Every building you've ever felt at home in was designed, costed, and delivered by someone who thought carefully about you before you arrived.</a:t>
            </a:r>
            <a:endParaRPr lang="en-US" sz="1700" dirty="0"/>
          </a:p>
        </p:txBody>
      </p:sp>
      <p:sp>
        <p:nvSpPr>
          <p:cNvPr id="11" name="Text 9"/>
          <p:cNvSpPr/>
          <p:nvPr/>
        </p:nvSpPr>
        <p:spPr>
          <a:xfrm>
            <a:off x="4114800" y="1600200"/>
            <a:ext cx="7589520" cy="274320"/>
          </a:xfrm>
          <a:prstGeom prst="rect">
            <a:avLst/>
          </a:prstGeom>
          <a:noFill/>
          <a:ln/>
        </p:spPr>
        <p:txBody>
          <a:bodyPr wrap="square" rtlCol="0" anchor="ctr"/>
          <a:lstStyle/>
          <a:p>
            <a:pPr indent="0" marL="0">
              <a:buNone/>
            </a:pPr>
            <a:r>
              <a:rPr lang="en-US" sz="1300" b="1" spc="100" kern="0" dirty="0">
                <a:solidFill>
                  <a:srgbClr val="1A1A1A"/>
                </a:solidFill>
                <a:latin typeface="Calibri" pitchFamily="34" charset="0"/>
                <a:ea typeface="Calibri" pitchFamily="34" charset="-122"/>
                <a:cs typeface="Calibri" pitchFamily="34" charset="-120"/>
              </a:rPr>
              <a:t>CAREERS TO EXPLORE</a:t>
            </a:r>
            <a:endParaRPr lang="en-US" sz="1300" dirty="0"/>
          </a:p>
        </p:txBody>
      </p:sp>
      <p:sp>
        <p:nvSpPr>
          <p:cNvPr id="12" name="Text 10"/>
          <p:cNvSpPr/>
          <p:nvPr/>
        </p:nvSpPr>
        <p:spPr>
          <a:xfrm>
            <a:off x="4114800" y="1920240"/>
            <a:ext cx="7589520" cy="1874520"/>
          </a:xfrm>
          <a:prstGeom prst="rect">
            <a:avLst/>
          </a:prstGeom>
          <a:noFill/>
          <a:ln/>
        </p:spPr>
        <p:txBody>
          <a:bodyPr wrap="square" rtlCol="0" anchor="ctr"/>
          <a:lstStyle/>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Architect</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Quantity Surveyor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Construction Project Manager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Urban / Town Planner</a:t>
            </a:r>
            <a:endParaRPr lang="en-US" sz="1400" dirty="0"/>
          </a:p>
          <a:p>
            <a:pPr marL="177800" indent="-1778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Real Estate Manager / Valuer</a:t>
            </a:r>
            <a:endParaRPr lang="en-US" sz="1400" dirty="0"/>
          </a:p>
        </p:txBody>
      </p:sp>
      <p:sp>
        <p:nvSpPr>
          <p:cNvPr id="13" name="Shape 11"/>
          <p:cNvSpPr/>
          <p:nvPr/>
        </p:nvSpPr>
        <p:spPr>
          <a:xfrm>
            <a:off x="4114800" y="3886200"/>
            <a:ext cx="7589520" cy="1874520"/>
          </a:xfrm>
          <a:prstGeom prst="roundRect">
            <a:avLst>
              <a:gd name="adj" fmla="val 2927"/>
            </a:avLst>
          </a:prstGeom>
          <a:solidFill>
            <a:srgbClr val="F8EDEB"/>
          </a:solidFill>
          <a:ln/>
        </p:spPr>
      </p:sp>
      <p:sp>
        <p:nvSpPr>
          <p:cNvPr id="14" name="Text 12"/>
          <p:cNvSpPr/>
          <p:nvPr/>
        </p:nvSpPr>
        <p:spPr>
          <a:xfrm>
            <a:off x="4343400" y="4041648"/>
            <a:ext cx="7132320" cy="274320"/>
          </a:xfrm>
          <a:prstGeom prst="rect">
            <a:avLst/>
          </a:prstGeom>
          <a:noFill/>
          <a:ln/>
        </p:spPr>
        <p:txBody>
          <a:bodyPr wrap="square" rtlCol="0" anchor="ctr"/>
          <a:lstStyle/>
          <a:p>
            <a:pPr indent="0" marL="0">
              <a:buNone/>
            </a:pPr>
            <a:r>
              <a:rPr lang="en-US" sz="1200" b="1" spc="100" kern="0" dirty="0">
                <a:solidFill>
                  <a:srgbClr val="B5473A"/>
                </a:solidFill>
                <a:latin typeface="Calibri" pitchFamily="34" charset="0"/>
                <a:ea typeface="Calibri" pitchFamily="34" charset="-122"/>
                <a:cs typeface="Calibri" pitchFamily="34" charset="-120"/>
              </a:rPr>
              <a:t>FOR OUR GIRLS</a:t>
            </a:r>
            <a:endParaRPr lang="en-US" sz="1200" dirty="0"/>
          </a:p>
        </p:txBody>
      </p:sp>
      <p:sp>
        <p:nvSpPr>
          <p:cNvPr id="15" name="Text 13"/>
          <p:cNvSpPr/>
          <p:nvPr/>
        </p:nvSpPr>
        <p:spPr>
          <a:xfrm>
            <a:off x="4343400" y="4343400"/>
            <a:ext cx="7132320" cy="1280160"/>
          </a:xfrm>
          <a:prstGeom prst="rect">
            <a:avLst/>
          </a:prstGeom>
          <a:noFill/>
          <a:ln/>
        </p:spPr>
        <p:txBody>
          <a:bodyPr wrap="square" rtlCol="0" anchor="ctr"/>
          <a:lstStyle/>
          <a:p>
            <a:pPr indent="0" marL="0">
              <a:lnSpc>
                <a:spcPct val="125000"/>
              </a:lnSpc>
              <a:buNone/>
            </a:pPr>
            <a:r>
              <a:rPr lang="en-US" sz="1300" i="1" dirty="0">
                <a:solidFill>
                  <a:srgbClr val="1A1A1A"/>
                </a:solidFill>
                <a:latin typeface="Calibri" pitchFamily="34" charset="0"/>
                <a:ea typeface="Calibri" pitchFamily="34" charset="-122"/>
                <a:cs typeface="Calibri" pitchFamily="34" charset="-120"/>
              </a:rPr>
              <a:t>Tell students: if this field interests you, the design table and the site office both belong to whoever can do the work — go stand at both.</a:t>
            </a:r>
            <a:endParaRPr lang="en-US" sz="1300" dirty="0"/>
          </a:p>
        </p:txBody>
      </p:sp>
      <p:sp>
        <p:nvSpPr>
          <p:cNvPr id="16" name="Text 14"/>
          <p:cNvSpPr/>
          <p:nvPr/>
        </p:nvSpPr>
        <p:spPr>
          <a:xfrm>
            <a:off x="4114800" y="6126480"/>
            <a:ext cx="7589520" cy="411480"/>
          </a:xfrm>
          <a:prstGeom prst="rect">
            <a:avLst/>
          </a:prstGeom>
          <a:noFill/>
          <a:ln/>
        </p:spPr>
        <p:txBody>
          <a:bodyPr wrap="square" rtlCol="0" anchor="ctr"/>
          <a:lstStyle/>
          <a:p>
            <a:pPr indent="0" marL="0">
              <a:lnSpc>
                <a:spcPct val="120000"/>
              </a:lnSpc>
              <a:buNone/>
            </a:pPr>
            <a:r>
              <a:rPr lang="en-US" sz="1000" i="1" dirty="0">
                <a:solidFill>
                  <a:srgbClr val="6B6B6B"/>
                </a:solidFill>
                <a:latin typeface="Calibri" pitchFamily="34" charset="0"/>
                <a:ea typeface="Calibri" pitchFamily="34" charset="-122"/>
                <a:cs typeface="Calibri" pitchFamily="34" charset="-120"/>
              </a:rPr>
              <a:t>Quick-reference card. The 6 slides after this one walk through the full session, step by step — swap, skip, or reorder anything.</a:t>
            </a:r>
            <a:endParaRPr lang="en-US" sz="10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E4  ·  THE BUILT ENVIRONMENT &amp; REAL ESTATE  ·  ROOM E4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2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Opening the Session</a:t>
            </a:r>
            <a:endParaRPr lang="en-US" sz="3000" dirty="0"/>
          </a:p>
        </p:txBody>
      </p:sp>
      <p:sp>
        <p:nvSpPr>
          <p:cNvPr id="5" name="Shape 3"/>
          <p:cNvSpPr/>
          <p:nvPr/>
        </p:nvSpPr>
        <p:spPr>
          <a:xfrm>
            <a:off x="548640" y="1417320"/>
            <a:ext cx="11064240" cy="1371600"/>
          </a:xfrm>
          <a:prstGeom prst="roundRect">
            <a:avLst>
              <a:gd name="adj" fmla="val 5333"/>
            </a:avLst>
          </a:prstGeom>
          <a:solidFill>
            <a:srgbClr val="F9F0EF"/>
          </a:solidFill>
          <a:ln/>
        </p:spPr>
      </p:sp>
      <p:sp>
        <p:nvSpPr>
          <p:cNvPr id="6" name="Text 4"/>
          <p:cNvSpPr/>
          <p:nvPr/>
        </p:nvSpPr>
        <p:spPr>
          <a:xfrm>
            <a:off x="868680" y="1508760"/>
            <a:ext cx="10424160" cy="1188720"/>
          </a:xfrm>
          <a:prstGeom prst="rect">
            <a:avLst/>
          </a:prstGeom>
          <a:noFill/>
          <a:ln/>
        </p:spPr>
        <p:txBody>
          <a:bodyPr wrap="square" rtlCol="0" anchor="ctr"/>
          <a:lstStyle/>
          <a:p>
            <a:pPr indent="0" marL="0">
              <a:lnSpc>
                <a:spcPct val="120000"/>
              </a:lnSpc>
              <a:buNone/>
            </a:pPr>
            <a:r>
              <a:rPr lang="en-US" sz="1900" b="1" i="1" dirty="0">
                <a:solidFill>
                  <a:srgbClr val="B5473A"/>
                </a:solidFill>
                <a:latin typeface="Cambria" pitchFamily="34" charset="0"/>
                <a:ea typeface="Cambria" pitchFamily="34" charset="-122"/>
                <a:cs typeface="Cambria" pitchFamily="34" charset="-120"/>
              </a:rPr>
              <a:t>"Every building you've ever felt at home in was designed, costed, and delivered by someone who thought carefully about you before you arrived."</a:t>
            </a:r>
            <a:endParaRPr lang="en-US" sz="1900" dirty="0"/>
          </a:p>
        </p:txBody>
      </p:sp>
      <p:sp>
        <p:nvSpPr>
          <p:cNvPr id="7" name="Text 5"/>
          <p:cNvSpPr/>
          <p:nvPr/>
        </p:nvSpPr>
        <p:spPr>
          <a:xfrm>
            <a:off x="548640" y="306324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WHY THIS MATTERS</a:t>
            </a:r>
            <a:endParaRPr lang="en-US" sz="1200" dirty="0"/>
          </a:p>
        </p:txBody>
      </p:sp>
      <p:sp>
        <p:nvSpPr>
          <p:cNvPr id="8" name="Text 6"/>
          <p:cNvSpPr/>
          <p:nvPr/>
        </p:nvSpPr>
        <p:spPr>
          <a:xfrm>
            <a:off x="548640" y="3364992"/>
            <a:ext cx="11064240" cy="1234440"/>
          </a:xfrm>
          <a:prstGeom prst="rect">
            <a:avLst/>
          </a:prstGeom>
          <a:noFill/>
          <a:ln/>
        </p:spPr>
        <p:txBody>
          <a:bodyPr wrap="square"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Kenya's urban growth and construction sector create steady, visible demand across design, cost management, and property leadership.</a:t>
            </a:r>
            <a:endParaRPr lang="en-US" sz="1600" dirty="0"/>
          </a:p>
        </p:txBody>
      </p:sp>
      <p:sp>
        <p:nvSpPr>
          <p:cNvPr id="9" name="Shape 7"/>
          <p:cNvSpPr/>
          <p:nvPr/>
        </p:nvSpPr>
        <p:spPr>
          <a:xfrm>
            <a:off x="548640" y="4846320"/>
            <a:ext cx="11064240" cy="1280160"/>
          </a:xfrm>
          <a:prstGeom prst="roundRect">
            <a:avLst>
              <a:gd name="adj" fmla="val 5714"/>
            </a:avLst>
          </a:prstGeom>
          <a:solidFill>
            <a:srgbClr val="F7F7F7"/>
          </a:solidFill>
          <a:ln/>
        </p:spPr>
      </p:sp>
      <p:sp>
        <p:nvSpPr>
          <p:cNvPr id="10" name="Text 8"/>
          <p:cNvSpPr/>
          <p:nvPr/>
        </p:nvSpPr>
        <p:spPr>
          <a:xfrm>
            <a:off x="868680" y="4983480"/>
            <a:ext cx="10424160" cy="274320"/>
          </a:xfrm>
          <a:prstGeom prst="rect">
            <a:avLst/>
          </a:prstGeom>
          <a:noFill/>
          <a:ln/>
        </p:spPr>
        <p:txBody>
          <a:bodyPr wrap="square" rtlCol="0" anchor="ctr"/>
          <a:lstStyle/>
          <a:p>
            <a:pPr indent="0" marL="0">
              <a:buNone/>
            </a:pPr>
            <a:r>
              <a:rPr lang="en-US" sz="1050" b="1" spc="100" kern="0" dirty="0">
                <a:solidFill>
                  <a:srgbClr val="7A1319"/>
                </a:solidFill>
                <a:latin typeface="Calibri" pitchFamily="34" charset="0"/>
                <a:ea typeface="Calibri" pitchFamily="34" charset="-122"/>
                <a:cs typeface="Calibri" pitchFamily="34" charset="-120"/>
              </a:rPr>
              <a:t>TRY OPENING WITH</a:t>
            </a:r>
            <a:endParaRPr lang="en-US" sz="1050" dirty="0"/>
          </a:p>
        </p:txBody>
      </p:sp>
      <p:sp>
        <p:nvSpPr>
          <p:cNvPr id="11" name="Text 9"/>
          <p:cNvSpPr/>
          <p:nvPr/>
        </p:nvSpPr>
        <p:spPr>
          <a:xfrm>
            <a:off x="868680" y="5303520"/>
            <a:ext cx="10424160" cy="731520"/>
          </a:xfrm>
          <a:prstGeom prst="rect">
            <a:avLst/>
          </a:prstGeom>
          <a:noFill/>
          <a:ln/>
        </p:spPr>
        <p:txBody>
          <a:bodyPr wrap="square" rtlCol="0" anchor="ctr"/>
          <a:lstStyle/>
          <a:p>
            <a:pPr indent="0" marL="0">
              <a:lnSpc>
                <a:spcPct val="125000"/>
              </a:lnSpc>
              <a:buNone/>
            </a:pPr>
            <a:r>
              <a:rPr lang="en-US" sz="1300" i="1" dirty="0">
                <a:solidFill>
                  <a:srgbClr val="333333"/>
                </a:solidFill>
                <a:latin typeface="Calibri" pitchFamily="34" charset="0"/>
                <a:ea typeface="Calibri" pitchFamily="34" charset="-122"/>
                <a:cs typeface="Calibri" pitchFamily="34" charset="-120"/>
              </a:rPr>
              <a:t>A quick show of hands: "Who already knows someone working in this field?" Then read the quote above out loud and ask what it makes them think of.</a:t>
            </a:r>
            <a:endParaRPr lang="en-US" sz="1300" dirty="0"/>
          </a:p>
        </p:txBody>
      </p:sp>
      <p:sp>
        <p:nvSpPr>
          <p:cNvPr id="12" name="Text 10"/>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E4  ·  THE BUILT ENVIRONMENT &amp; REAL ESTATE  ·  ROOM E4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3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Careers Deep Dive</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Point students to the specific roles below — not just the cluster name. Distinct careers need distinct advice.</a:t>
            </a:r>
            <a:endParaRPr lang="en-US" sz="1250" dirty="0"/>
          </a:p>
        </p:txBody>
      </p:sp>
      <p:sp>
        <p:nvSpPr>
          <p:cNvPr id="6" name="Shape 4"/>
          <p:cNvSpPr/>
          <p:nvPr/>
        </p:nvSpPr>
        <p:spPr>
          <a:xfrm>
            <a:off x="548640" y="1691640"/>
            <a:ext cx="5417820" cy="1447800"/>
          </a:xfrm>
          <a:prstGeom prst="roundRect">
            <a:avLst>
              <a:gd name="adj" fmla="val 4421"/>
            </a:avLst>
          </a:prstGeom>
          <a:solidFill>
            <a:srgbClr val="FAF2F1"/>
          </a:solidFill>
          <a:ln/>
        </p:spPr>
      </p:sp>
      <p:sp>
        <p:nvSpPr>
          <p:cNvPr id="7" name="Text 5"/>
          <p:cNvSpPr/>
          <p:nvPr/>
        </p:nvSpPr>
        <p:spPr>
          <a:xfrm>
            <a:off x="749808" y="182880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Architect</a:t>
            </a:r>
            <a:endParaRPr lang="en-US" sz="1450" dirty="0"/>
          </a:p>
        </p:txBody>
      </p:sp>
      <p:sp>
        <p:nvSpPr>
          <p:cNvPr id="8" name="Text 6"/>
          <p:cNvSpPr/>
          <p:nvPr/>
        </p:nvSpPr>
        <p:spPr>
          <a:xfrm>
            <a:off x="74980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Designs spaces around how people actually live and work in them.</a:t>
            </a:r>
            <a:endParaRPr lang="en-US" sz="1200" dirty="0"/>
          </a:p>
        </p:txBody>
      </p:sp>
      <p:sp>
        <p:nvSpPr>
          <p:cNvPr id="9" name="Shape 7"/>
          <p:cNvSpPr/>
          <p:nvPr/>
        </p:nvSpPr>
        <p:spPr>
          <a:xfrm>
            <a:off x="6195060" y="1691640"/>
            <a:ext cx="5417820" cy="1447800"/>
          </a:xfrm>
          <a:prstGeom prst="roundRect">
            <a:avLst>
              <a:gd name="adj" fmla="val 4421"/>
            </a:avLst>
          </a:prstGeom>
          <a:solidFill>
            <a:srgbClr val="FAF2F1"/>
          </a:solidFill>
          <a:ln/>
        </p:spPr>
      </p:sp>
      <p:sp>
        <p:nvSpPr>
          <p:cNvPr id="10" name="Text 8"/>
          <p:cNvSpPr/>
          <p:nvPr/>
        </p:nvSpPr>
        <p:spPr>
          <a:xfrm>
            <a:off x="6396228" y="182880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Quantity Surveyor</a:t>
            </a:r>
            <a:endParaRPr lang="en-US" sz="1450" dirty="0"/>
          </a:p>
        </p:txBody>
      </p:sp>
      <p:sp>
        <p:nvSpPr>
          <p:cNvPr id="11" name="Text 9"/>
          <p:cNvSpPr/>
          <p:nvPr/>
        </p:nvSpPr>
        <p:spPr>
          <a:xfrm>
            <a:off x="6396228" y="228600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Costs and manages a design through construction — essential, technical, in demand.</a:t>
            </a:r>
            <a:endParaRPr lang="en-US" sz="1200" dirty="0"/>
          </a:p>
        </p:txBody>
      </p:sp>
      <p:sp>
        <p:nvSpPr>
          <p:cNvPr id="12" name="Shape 10"/>
          <p:cNvSpPr/>
          <p:nvPr/>
        </p:nvSpPr>
        <p:spPr>
          <a:xfrm>
            <a:off x="548640" y="3322320"/>
            <a:ext cx="5417820" cy="1447800"/>
          </a:xfrm>
          <a:prstGeom prst="roundRect">
            <a:avLst>
              <a:gd name="adj" fmla="val 4421"/>
            </a:avLst>
          </a:prstGeom>
          <a:solidFill>
            <a:srgbClr val="FAF2F1"/>
          </a:solidFill>
          <a:ln/>
        </p:spPr>
      </p:sp>
      <p:sp>
        <p:nvSpPr>
          <p:cNvPr id="13" name="Text 11"/>
          <p:cNvSpPr/>
          <p:nvPr/>
        </p:nvSpPr>
        <p:spPr>
          <a:xfrm>
            <a:off x="749808" y="345948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Construction Project Manager</a:t>
            </a:r>
            <a:endParaRPr lang="en-US" sz="1450" dirty="0"/>
          </a:p>
        </p:txBody>
      </p:sp>
      <p:sp>
        <p:nvSpPr>
          <p:cNvPr id="14" name="Text 12"/>
          <p:cNvSpPr/>
          <p:nvPr/>
        </p:nvSpPr>
        <p:spPr>
          <a:xfrm>
            <a:off x="74980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Delivers the build on time, on budget, and safely.</a:t>
            </a:r>
            <a:endParaRPr lang="en-US" sz="1200" dirty="0"/>
          </a:p>
        </p:txBody>
      </p:sp>
      <p:sp>
        <p:nvSpPr>
          <p:cNvPr id="15" name="Shape 13"/>
          <p:cNvSpPr/>
          <p:nvPr/>
        </p:nvSpPr>
        <p:spPr>
          <a:xfrm>
            <a:off x="6195060" y="3322320"/>
            <a:ext cx="5417820" cy="1447800"/>
          </a:xfrm>
          <a:prstGeom prst="roundRect">
            <a:avLst>
              <a:gd name="adj" fmla="val 4421"/>
            </a:avLst>
          </a:prstGeom>
          <a:solidFill>
            <a:srgbClr val="FAF2F1"/>
          </a:solidFill>
          <a:ln/>
        </p:spPr>
      </p:sp>
      <p:sp>
        <p:nvSpPr>
          <p:cNvPr id="16" name="Text 14"/>
          <p:cNvSpPr/>
          <p:nvPr/>
        </p:nvSpPr>
        <p:spPr>
          <a:xfrm>
            <a:off x="6396228" y="345948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Urban / Town Planner</a:t>
            </a:r>
            <a:endParaRPr lang="en-US" sz="1450" dirty="0"/>
          </a:p>
        </p:txBody>
      </p:sp>
      <p:sp>
        <p:nvSpPr>
          <p:cNvPr id="17" name="Text 15"/>
          <p:cNvSpPr/>
          <p:nvPr/>
        </p:nvSpPr>
        <p:spPr>
          <a:xfrm>
            <a:off x="6396228" y="391668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Shapes how whole neighbourhoods and cities grow and function.</a:t>
            </a:r>
            <a:endParaRPr lang="en-US" sz="1200" dirty="0"/>
          </a:p>
        </p:txBody>
      </p:sp>
      <p:sp>
        <p:nvSpPr>
          <p:cNvPr id="18" name="Shape 16"/>
          <p:cNvSpPr/>
          <p:nvPr/>
        </p:nvSpPr>
        <p:spPr>
          <a:xfrm>
            <a:off x="548640" y="4953000"/>
            <a:ext cx="5417820" cy="1447800"/>
          </a:xfrm>
          <a:prstGeom prst="roundRect">
            <a:avLst>
              <a:gd name="adj" fmla="val 4421"/>
            </a:avLst>
          </a:prstGeom>
          <a:solidFill>
            <a:srgbClr val="FAF2F1"/>
          </a:solidFill>
          <a:ln/>
        </p:spPr>
      </p:sp>
      <p:sp>
        <p:nvSpPr>
          <p:cNvPr id="19" name="Text 17"/>
          <p:cNvSpPr/>
          <p:nvPr/>
        </p:nvSpPr>
        <p:spPr>
          <a:xfrm>
            <a:off x="749808" y="5090160"/>
            <a:ext cx="5015484" cy="457200"/>
          </a:xfrm>
          <a:prstGeom prst="rect">
            <a:avLst/>
          </a:prstGeom>
          <a:noFill/>
          <a:ln/>
        </p:spPr>
        <p:txBody>
          <a:bodyPr wrap="square" rtlCol="0" anchor="ctr"/>
          <a:lstStyle/>
          <a:p>
            <a:pPr indent="0" marL="0">
              <a:lnSpc>
                <a:spcPct val="110000"/>
              </a:lnSpc>
              <a:buNone/>
            </a:pPr>
            <a:r>
              <a:rPr lang="en-US" sz="1450" b="1" dirty="0">
                <a:solidFill>
                  <a:srgbClr val="B5473A"/>
                </a:solidFill>
                <a:latin typeface="Calibri" pitchFamily="34" charset="0"/>
                <a:ea typeface="Calibri" pitchFamily="34" charset="-122"/>
                <a:cs typeface="Calibri" pitchFamily="34" charset="-120"/>
              </a:rPr>
              <a:t>Real Estate Manager / Valuer</a:t>
            </a:r>
            <a:endParaRPr lang="en-US" sz="1450" dirty="0"/>
          </a:p>
        </p:txBody>
      </p:sp>
      <p:sp>
        <p:nvSpPr>
          <p:cNvPr id="20" name="Text 18"/>
          <p:cNvSpPr/>
          <p:nvPr/>
        </p:nvSpPr>
        <p:spPr>
          <a:xfrm>
            <a:off x="749808" y="5547360"/>
            <a:ext cx="5015484" cy="716280"/>
          </a:xfrm>
          <a:prstGeom prst="rect">
            <a:avLst/>
          </a:prstGeom>
          <a:noFill/>
          <a:ln/>
        </p:spPr>
        <p:txBody>
          <a:bodyPr wrap="square" rtlCol="0" anchor="ctr"/>
          <a:lstStyle/>
          <a:p>
            <a:pPr indent="0" marL="0">
              <a:lnSpc>
                <a:spcPct val="125000"/>
              </a:lnSpc>
              <a:buNone/>
            </a:pPr>
            <a:r>
              <a:rPr lang="en-US" sz="1200" dirty="0">
                <a:solidFill>
                  <a:srgbClr val="222222"/>
                </a:solidFill>
                <a:latin typeface="Calibri" pitchFamily="34" charset="0"/>
                <a:ea typeface="Calibri" pitchFamily="34" charset="-122"/>
                <a:cs typeface="Calibri" pitchFamily="34" charset="-120"/>
              </a:rPr>
              <a:t>Manages and values property assets — a genuine business specialism inside this field.</a:t>
            </a:r>
            <a:endParaRPr lang="en-US" sz="1200" dirty="0"/>
          </a:p>
        </p:txBody>
      </p:sp>
      <p:sp>
        <p:nvSpPr>
          <p:cNvPr id="21" name="Text 19"/>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E4  ·  THE BUILT ENVIRONMENT &amp; REAL ESTATE  ·  ROOM E4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4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Key Talking Points</a:t>
            </a:r>
            <a:endParaRPr lang="en-US" sz="3000" dirty="0"/>
          </a:p>
        </p:txBody>
      </p:sp>
      <p:sp>
        <p:nvSpPr>
          <p:cNvPr id="5" name="Text 3"/>
          <p:cNvSpPr/>
          <p:nvPr/>
        </p:nvSpPr>
        <p:spPr>
          <a:xfrm>
            <a:off x="548640" y="1261872"/>
            <a:ext cx="11064240" cy="320040"/>
          </a:xfrm>
          <a:prstGeom prst="rect">
            <a:avLst/>
          </a:prstGeom>
          <a:noFill/>
          <a:ln/>
        </p:spPr>
        <p:txBody>
          <a:bodyPr wrap="square"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Pick 3-4 that fit your time and audience — you don't need to cover all of these.</a:t>
            </a:r>
            <a:endParaRPr lang="en-US" sz="1250" dirty="0"/>
          </a:p>
        </p:txBody>
      </p:sp>
      <p:sp>
        <p:nvSpPr>
          <p:cNvPr id="6" name="Shape 4"/>
          <p:cNvSpPr/>
          <p:nvPr/>
        </p:nvSpPr>
        <p:spPr>
          <a:xfrm>
            <a:off x="548640" y="2057400"/>
            <a:ext cx="402336" cy="402336"/>
          </a:xfrm>
          <a:prstGeom prst="ellipse">
            <a:avLst/>
          </a:prstGeom>
          <a:solidFill>
            <a:srgbClr val="B5473A"/>
          </a:solidFill>
          <a:ln/>
        </p:spPr>
      </p:sp>
      <p:sp>
        <p:nvSpPr>
          <p:cNvPr id="7" name="Text 5"/>
          <p:cNvSpPr/>
          <p:nvPr/>
        </p:nvSpPr>
        <p:spPr>
          <a:xfrm>
            <a:off x="548640" y="20574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1737360"/>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Architecture is about design and how spaces function for the people who use them; quantity surveying is about accurately costing and managing that design — both essential, very different day-to-day.</a:t>
            </a:r>
            <a:endParaRPr lang="en-US" sz="1400" dirty="0"/>
          </a:p>
        </p:txBody>
      </p:sp>
      <p:sp>
        <p:nvSpPr>
          <p:cNvPr id="9" name="Shape 7"/>
          <p:cNvSpPr/>
          <p:nvPr/>
        </p:nvSpPr>
        <p:spPr>
          <a:xfrm>
            <a:off x="548640" y="3264408"/>
            <a:ext cx="402336" cy="402336"/>
          </a:xfrm>
          <a:prstGeom prst="ellipse">
            <a:avLst/>
          </a:prstGeom>
          <a:solidFill>
            <a:srgbClr val="B5473A"/>
          </a:solidFill>
          <a:ln/>
        </p:spPr>
      </p:sp>
      <p:sp>
        <p:nvSpPr>
          <p:cNvPr id="10" name="Text 8"/>
          <p:cNvSpPr/>
          <p:nvPr/>
        </p:nvSpPr>
        <p:spPr>
          <a:xfrm>
            <a:off x="548640" y="3264408"/>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2944368"/>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Be transparent about professional registration timelines, which are typically longer for architecture than for quantity surveying.</a:t>
            </a:r>
            <a:endParaRPr lang="en-US" sz="1400" dirty="0"/>
          </a:p>
        </p:txBody>
      </p:sp>
      <p:sp>
        <p:nvSpPr>
          <p:cNvPr id="12" name="Shape 10"/>
          <p:cNvSpPr/>
          <p:nvPr/>
        </p:nvSpPr>
        <p:spPr>
          <a:xfrm>
            <a:off x="548640" y="4471416"/>
            <a:ext cx="402336" cy="402336"/>
          </a:xfrm>
          <a:prstGeom prst="ellipse">
            <a:avLst/>
          </a:prstGeom>
          <a:solidFill>
            <a:srgbClr val="B5473A"/>
          </a:solidFill>
          <a:ln/>
        </p:spPr>
      </p:sp>
      <p:sp>
        <p:nvSpPr>
          <p:cNvPr id="13" name="Text 11"/>
          <p:cNvSpPr/>
          <p:nvPr/>
        </p:nvSpPr>
        <p:spPr>
          <a:xfrm>
            <a:off x="548640" y="4471416"/>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4151376"/>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Digital tools (3D modelling, cost-estimation software) are now central to both roles — technology comfort matters as much as design skill.</a:t>
            </a:r>
            <a:endParaRPr lang="en-US" sz="1400" dirty="0"/>
          </a:p>
        </p:txBody>
      </p:sp>
      <p:sp>
        <p:nvSpPr>
          <p:cNvPr id="15" name="Shape 13"/>
          <p:cNvSpPr/>
          <p:nvPr/>
        </p:nvSpPr>
        <p:spPr>
          <a:xfrm>
            <a:off x="548640" y="5678424"/>
            <a:ext cx="402336" cy="402336"/>
          </a:xfrm>
          <a:prstGeom prst="ellipse">
            <a:avLst/>
          </a:prstGeom>
          <a:solidFill>
            <a:srgbClr val="B5473A"/>
          </a:solidFill>
          <a:ln/>
        </p:spPr>
      </p:sp>
      <p:sp>
        <p:nvSpPr>
          <p:cNvPr id="16" name="Text 14"/>
          <p:cNvSpPr/>
          <p:nvPr/>
        </p:nvSpPr>
        <p:spPr>
          <a:xfrm>
            <a:off x="548640" y="5678424"/>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143000" y="5358384"/>
            <a:ext cx="10469880" cy="1042416"/>
          </a:xfrm>
          <a:prstGeom prst="rect">
            <a:avLst/>
          </a:prstGeom>
          <a:noFill/>
          <a:ln/>
        </p:spPr>
        <p:txBody>
          <a:bodyPr wrap="square"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Site visits and client meetings are a bigger part of the job than people expect — this isn't purely desk-based design work.</a:t>
            </a:r>
            <a:endParaRPr lang="en-US" sz="1400" dirty="0"/>
          </a:p>
        </p:txBody>
      </p:sp>
      <p:sp>
        <p:nvSpPr>
          <p:cNvPr id="18" name="Text 16"/>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BF4F3"/>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E4  ·  THE BUILT ENVIRONMENT &amp; REAL ESTATE  ·  ROOM E4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5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For Our Girls: Rising Above</a:t>
            </a:r>
            <a:endParaRPr lang="en-US" sz="3000" dirty="0"/>
          </a:p>
        </p:txBody>
      </p:sp>
      <p:sp>
        <p:nvSpPr>
          <p:cNvPr id="5" name="Shape 3"/>
          <p:cNvSpPr/>
          <p:nvPr/>
        </p:nvSpPr>
        <p:spPr>
          <a:xfrm>
            <a:off x="548640" y="1417320"/>
            <a:ext cx="11064240" cy="594360"/>
          </a:xfrm>
          <a:prstGeom prst="roundRect">
            <a:avLst>
              <a:gd name="adj" fmla="val 9231"/>
            </a:avLst>
          </a:prstGeom>
          <a:solidFill>
            <a:srgbClr val="FFFFFF"/>
          </a:solidFill>
          <a:ln/>
        </p:spPr>
      </p:sp>
      <p:sp>
        <p:nvSpPr>
          <p:cNvPr id="6" name="Text 4"/>
          <p:cNvSpPr/>
          <p:nvPr/>
        </p:nvSpPr>
        <p:spPr>
          <a:xfrm>
            <a:off x="822960" y="1417320"/>
            <a:ext cx="10515600" cy="594360"/>
          </a:xfrm>
          <a:prstGeom prst="rect">
            <a:avLst/>
          </a:prstGeom>
          <a:noFill/>
          <a:ln/>
        </p:spPr>
        <p:txBody>
          <a:bodyPr wrap="square" rtlCol="0" anchor="ctr"/>
          <a:lstStyle/>
          <a:p>
            <a:pPr indent="0" marL="0">
              <a:lnSpc>
                <a:spcPct val="110000"/>
              </a:lnSpc>
              <a:buNone/>
            </a:pPr>
            <a:r>
              <a:rPr lang="en-US" sz="1700" b="1" dirty="0">
                <a:solidFill>
                  <a:srgbClr val="B5473A"/>
                </a:solidFill>
                <a:latin typeface="Cambria" pitchFamily="34" charset="0"/>
                <a:ea typeface="Cambria" pitchFamily="34" charset="-122"/>
                <a:cs typeface="Cambria" pitchFamily="34" charset="-120"/>
              </a:rPr>
              <a:t>the site office is not a boys' club, it just used to act like one</a:t>
            </a:r>
            <a:endParaRPr lang="en-US" sz="1700" dirty="0"/>
          </a:p>
        </p:txBody>
      </p:sp>
      <p:sp>
        <p:nvSpPr>
          <p:cNvPr id="7" name="Shape 5"/>
          <p:cNvSpPr/>
          <p:nvPr/>
        </p:nvSpPr>
        <p:spPr>
          <a:xfrm>
            <a:off x="548640" y="2194560"/>
            <a:ext cx="11064240" cy="3931920"/>
          </a:xfrm>
          <a:prstGeom prst="roundRect">
            <a:avLst>
              <a:gd name="adj" fmla="val 1860"/>
            </a:avLst>
          </a:prstGeom>
          <a:solidFill>
            <a:srgbClr val="FFFFFF"/>
          </a:solidFill>
          <a:ln/>
        </p:spPr>
      </p:sp>
      <p:sp>
        <p:nvSpPr>
          <p:cNvPr id="8" name="Text 6"/>
          <p:cNvSpPr/>
          <p:nvPr/>
        </p:nvSpPr>
        <p:spPr>
          <a:xfrm>
            <a:off x="868680" y="2423160"/>
            <a:ext cx="10424160" cy="3474720"/>
          </a:xfrm>
          <a:prstGeom prst="rect">
            <a:avLst/>
          </a:prstGeom>
          <a:noFill/>
          <a:ln/>
        </p:spPr>
        <p:txBody>
          <a:bodyPr wrap="square" rtlCol="0" anchor="ctr"/>
          <a:lstStyle/>
          <a:p>
            <a:pPr indent="0" marL="0">
              <a:lnSpc>
                <a:spcPct val="135000"/>
              </a:lnSpc>
              <a:buNone/>
            </a:pPr>
            <a:r>
              <a:rPr lang="en-US" sz="1450" i="1" dirty="0">
                <a:solidFill>
                  <a:srgbClr val="2A1A1C"/>
                </a:solidFill>
                <a:latin typeface="Calibri" pitchFamily="34" charset="0"/>
                <a:ea typeface="Calibri" pitchFamily="34" charset="-122"/>
                <a:cs typeface="Calibri" pitchFamily="34" charset="-120"/>
              </a:rPr>
              <a:t>Architecture, quantity surveying, and construction site leadership remain some of the most male-dominated professions in the built environment, in Kenya and globally — a construction site has historically been treated as a male space by default, regardless of who actually had the design or technical skill to run it. That culture is shifting, visibly, as more women move into site leadership and senior design roles and simply do the job well in front of everyone. Tell students: if this field interests you, the design table and the site office both belong to whoever can do the work — go stand at both.</a:t>
            </a:r>
            <a:endParaRPr lang="en-US" sz="1450" dirty="0"/>
          </a:p>
        </p:txBody>
      </p:sp>
      <p:sp>
        <p:nvSpPr>
          <p:cNvPr id="9" name="Text 7"/>
          <p:cNvSpPr/>
          <p:nvPr/>
        </p:nvSpPr>
        <p:spPr>
          <a:xfrm>
            <a:off x="548640" y="6492240"/>
            <a:ext cx="1106424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This note is yours to say in your own words — the goal is the message, not the wording.</a:t>
            </a:r>
            <a:endParaRPr lang="en-US" sz="10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E4  ·  THE BUILT ENVIRONMENT &amp; REAL ESTATE  ·  ROOM E4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6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Bring It To Life</a:t>
            </a:r>
            <a:endParaRPr lang="en-US" sz="3000" dirty="0"/>
          </a:p>
        </p:txBody>
      </p:sp>
      <p:sp>
        <p:nvSpPr>
          <p:cNvPr id="5" name="Shape 3"/>
          <p:cNvSpPr/>
          <p:nvPr/>
        </p:nvSpPr>
        <p:spPr>
          <a:xfrm>
            <a:off x="548640" y="1463040"/>
            <a:ext cx="5257800" cy="4297680"/>
          </a:xfrm>
          <a:prstGeom prst="roundRect">
            <a:avLst>
              <a:gd name="adj" fmla="val 1702"/>
            </a:avLst>
          </a:prstGeom>
          <a:solidFill>
            <a:srgbClr val="FAF2F1"/>
          </a:solidFill>
          <a:ln/>
        </p:spPr>
      </p:sp>
      <p:sp>
        <p:nvSpPr>
          <p:cNvPr id="6" name="Text 4"/>
          <p:cNvSpPr/>
          <p:nvPr/>
        </p:nvSpPr>
        <p:spPr>
          <a:xfrm>
            <a:off x="822960" y="1691640"/>
            <a:ext cx="4709160" cy="274320"/>
          </a:xfrm>
          <a:prstGeom prst="rect">
            <a:avLst/>
          </a:prstGeom>
          <a:noFill/>
          <a:ln/>
        </p:spPr>
        <p:txBody>
          <a:bodyPr wrap="square" rtlCol="0" anchor="ctr"/>
          <a:lstStyle/>
          <a:p>
            <a:pPr indent="0" marL="0">
              <a:buNone/>
            </a:pPr>
            <a:r>
              <a:rPr lang="en-US" sz="1200" b="1" spc="100" kern="0" dirty="0">
                <a:solidFill>
                  <a:srgbClr val="B5473A"/>
                </a:solidFill>
                <a:latin typeface="Calibri" pitchFamily="34" charset="0"/>
                <a:ea typeface="Calibri" pitchFamily="34" charset="-122"/>
                <a:cs typeface="Calibri" pitchFamily="34" charset="-120"/>
              </a:rPr>
              <a:t>SUGGESTED ACTIVITY</a:t>
            </a:r>
            <a:endParaRPr lang="en-US" sz="1200" dirty="0"/>
          </a:p>
        </p:txBody>
      </p:sp>
      <p:sp>
        <p:nvSpPr>
          <p:cNvPr id="7" name="Text 5"/>
          <p:cNvSpPr/>
          <p:nvPr/>
        </p:nvSpPr>
        <p:spPr>
          <a:xfrm>
            <a:off x="822960" y="2057400"/>
            <a:ext cx="4709160" cy="18288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Give groups a fixed budget and a small design brief (e.g. 'design a school library for this budget') — half push for design features, half must keep it within budget, then negotiate.</a:t>
            </a:r>
            <a:endParaRPr lang="en-US" sz="1400" dirty="0"/>
          </a:p>
        </p:txBody>
      </p:sp>
      <p:sp>
        <p:nvSpPr>
          <p:cNvPr id="8" name="Text 6"/>
          <p:cNvSpPr/>
          <p:nvPr/>
        </p:nvSpPr>
        <p:spPr>
          <a:xfrm>
            <a:off x="822960" y="4114800"/>
            <a:ext cx="4709160" cy="274320"/>
          </a:xfrm>
          <a:prstGeom prst="rect">
            <a:avLst/>
          </a:prstGeom>
          <a:noFill/>
          <a:ln/>
        </p:spPr>
        <p:txBody>
          <a:bodyPr wrap="square" rtlCol="0" anchor="ctr"/>
          <a:lstStyle/>
          <a:p>
            <a:pPr indent="0" marL="0">
              <a:buNone/>
            </a:pPr>
            <a:r>
              <a:rPr lang="en-US" sz="1050" b="1" spc="100" kern="0" dirty="0">
                <a:solidFill>
                  <a:srgbClr val="B5473A"/>
                </a:solidFill>
                <a:latin typeface="Calibri" pitchFamily="34" charset="0"/>
                <a:ea typeface="Calibri" pitchFamily="34" charset="-122"/>
                <a:cs typeface="Calibri" pitchFamily="34" charset="-120"/>
              </a:rPr>
              <a:t>FACILITATION TIPS</a:t>
            </a:r>
            <a:endParaRPr lang="en-US" sz="1050" dirty="0"/>
          </a:p>
        </p:txBody>
      </p:sp>
      <p:sp>
        <p:nvSpPr>
          <p:cNvPr id="9" name="Text 7"/>
          <p:cNvSpPr/>
          <p:nvPr/>
        </p:nvSpPr>
        <p:spPr>
          <a:xfrm>
            <a:off x="822960" y="4434840"/>
            <a:ext cx="4709160" cy="11887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Keep it short — 3 to 5 minutes is plenty for a rotation slot.</a:t>
            </a:r>
            <a:endParaRPr lang="en-US" sz="1200" dirty="0"/>
          </a:p>
          <a:p>
            <a:pPr marL="342900" indent="-342900">
              <a:lnSpc>
                <a:spcPct val="120000"/>
              </a:lnSpc>
              <a:buSzPct val="100000"/>
              <a:buChar char="•"/>
            </a:pPr>
            <a:r>
              <a:rPr lang="en-US" sz="1200" dirty="0">
                <a:solidFill>
                  <a:srgbClr val="333333"/>
                </a:solidFill>
                <a:latin typeface="Calibri" pitchFamily="34" charset="0"/>
                <a:ea typeface="Calibri" pitchFamily="34" charset="-122"/>
                <a:cs typeface="Calibri" pitchFamily="34" charset="-120"/>
              </a:rPr>
              <a:t>If time is tight, skip straight to a debrief question instead.</a:t>
            </a:r>
            <a:endParaRPr lang="en-US" sz="1200" dirty="0"/>
          </a:p>
        </p:txBody>
      </p:sp>
      <p:sp>
        <p:nvSpPr>
          <p:cNvPr id="10" name="Text 8"/>
          <p:cNvSpPr/>
          <p:nvPr/>
        </p:nvSpPr>
        <p:spPr>
          <a:xfrm>
            <a:off x="6355080" y="1691640"/>
            <a:ext cx="525780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SAMPLE Q&amp;A PROMPTS</a:t>
            </a:r>
            <a:endParaRPr lang="en-US" sz="1200" dirty="0"/>
          </a:p>
        </p:txBody>
      </p:sp>
      <p:sp>
        <p:nvSpPr>
          <p:cNvPr id="11" name="Text 9"/>
          <p:cNvSpPr/>
          <p:nvPr/>
        </p:nvSpPr>
        <p:spPr>
          <a:xfrm>
            <a:off x="6355080" y="2011680"/>
            <a:ext cx="5257800" cy="502920"/>
          </a:xfrm>
          <a:prstGeom prst="rect">
            <a:avLst/>
          </a:prstGeom>
          <a:noFill/>
          <a:ln/>
        </p:spPr>
        <p:txBody>
          <a:bodyPr wrap="square" rtlCol="0" anchor="ctr"/>
          <a:lstStyle/>
          <a:p>
            <a:pPr indent="0" marL="0">
              <a:lnSpc>
                <a:spcPct val="120000"/>
              </a:lnSpc>
              <a:buNone/>
            </a:pPr>
            <a:r>
              <a:rPr lang="en-US" sz="1150" i="1" dirty="0">
                <a:solidFill>
                  <a:srgbClr val="6B6B6B"/>
                </a:solidFill>
                <a:latin typeface="Calibri" pitchFamily="34" charset="0"/>
                <a:ea typeface="Calibri" pitchFamily="34" charset="-122"/>
                <a:cs typeface="Calibri" pitchFamily="34" charset="-120"/>
              </a:rPr>
              <a:t>Use these if the room goes quiet, or to steer discussion in the last few minutes.</a:t>
            </a:r>
            <a:endParaRPr lang="en-US" sz="1150" dirty="0"/>
          </a:p>
        </p:txBody>
      </p:sp>
      <p:sp>
        <p:nvSpPr>
          <p:cNvPr id="12" name="Text 10"/>
          <p:cNvSpPr/>
          <p:nvPr/>
        </p:nvSpPr>
        <p:spPr>
          <a:xfrm>
            <a:off x="6355080" y="2651760"/>
            <a:ext cx="5257800" cy="3017520"/>
          </a:xfrm>
          <a:prstGeom prst="rect">
            <a:avLst/>
          </a:prstGeom>
          <a:noFill/>
          <a:ln/>
        </p:spPr>
        <p:txBody>
          <a:bodyPr wrap="square" rtlCol="0" anchor="ctr"/>
          <a:lstStyle/>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happens when a client's dream design doesn't fit their budget?</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What's a building or project you're proudest of?</a:t>
            </a:r>
            <a:endParaRPr lang="en-US" sz="1350" dirty="0"/>
          </a:p>
          <a:p>
            <a:pPr marL="342900" indent="-342900">
              <a:spcAft>
                <a:spcPts val="1400"/>
              </a:spcAft>
              <a:buSzPct val="100000"/>
              <a:buChar char="•"/>
            </a:pPr>
            <a:r>
              <a:rPr lang="en-US" sz="1350" dirty="0">
                <a:solidFill>
                  <a:srgbClr val="222222"/>
                </a:solidFill>
                <a:latin typeface="Calibri" pitchFamily="34" charset="0"/>
                <a:ea typeface="Calibri" pitchFamily="34" charset="-122"/>
                <a:cs typeface="Calibri" pitchFamily="34" charset="-120"/>
              </a:rPr>
              <a:t>What was it like being one of few women on a construction site or in a design meeting?</a:t>
            </a:r>
            <a:endParaRPr lang="en-US" sz="1350" dirty="0"/>
          </a:p>
        </p:txBody>
      </p:sp>
      <p:sp>
        <p:nvSpPr>
          <p:cNvPr id="13" name="Text 11"/>
          <p:cNvSpPr/>
          <p:nvPr/>
        </p:nvSpPr>
        <p:spPr>
          <a:xfrm>
            <a:off x="548640" y="6492240"/>
            <a:ext cx="7772400" cy="274320"/>
          </a:xfrm>
          <a:prstGeom prst="rect">
            <a:avLst/>
          </a:prstGeom>
          <a:noFill/>
          <a:ln/>
        </p:spPr>
        <p:txBody>
          <a:bodyPr wrap="square"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Content ideas — tweak freely to fit your session.</a:t>
            </a:r>
            <a:endParaRPr lang="en-US" sz="10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778240" cy="274320"/>
          </a:xfrm>
          <a:prstGeom prst="rect">
            <a:avLst/>
          </a:prstGeom>
          <a:noFill/>
          <a:ln/>
        </p:spPr>
        <p:txBody>
          <a:bodyPr wrap="square" rtlCol="0" anchor="ctr"/>
          <a:lstStyle/>
          <a:p>
            <a:pPr indent="0" marL="0">
              <a:buNone/>
            </a:pPr>
            <a:r>
              <a:rPr lang="en-US" sz="1100" b="1" spc="100" kern="0" dirty="0">
                <a:solidFill>
                  <a:srgbClr val="B5473A"/>
                </a:solidFill>
                <a:latin typeface="Calibri" pitchFamily="34" charset="0"/>
                <a:ea typeface="Calibri" pitchFamily="34" charset="-122"/>
                <a:cs typeface="Calibri" pitchFamily="34" charset="-120"/>
              </a:rPr>
              <a:t>E4  ·  THE BUILT ENVIRONMENT &amp; REAL ESTATE  ·  ROOM E4</a:t>
            </a:r>
            <a:endParaRPr lang="en-US" sz="1100" dirty="0"/>
          </a:p>
        </p:txBody>
      </p:sp>
      <p:sp>
        <p:nvSpPr>
          <p:cNvPr id="3" name="Text 1"/>
          <p:cNvSpPr/>
          <p:nvPr/>
        </p:nvSpPr>
        <p:spPr>
          <a:xfrm>
            <a:off x="9326880" y="320040"/>
            <a:ext cx="2286000" cy="274320"/>
          </a:xfrm>
          <a:prstGeom prst="rect">
            <a:avLst/>
          </a:prstGeom>
          <a:noFill/>
          <a:ln/>
        </p:spPr>
        <p:txBody>
          <a:bodyPr wrap="square" rtlCol="0" anchor="ctr"/>
          <a:lstStyle/>
          <a:p>
            <a:pPr algn="r" indent="0" marL="0">
              <a:buNone/>
            </a:pPr>
            <a:r>
              <a:rPr lang="en-US" sz="950" i="1" dirty="0">
                <a:solidFill>
                  <a:srgbClr val="6B6B6B"/>
                </a:solidFill>
                <a:latin typeface="Calibri" pitchFamily="34" charset="0"/>
                <a:ea typeface="Calibri" pitchFamily="34" charset="-122"/>
                <a:cs typeface="Calibri" pitchFamily="34" charset="-120"/>
              </a:rPr>
              <a:t>7 / 7</a:t>
            </a:r>
            <a:endParaRPr lang="en-US" sz="950" dirty="0"/>
          </a:p>
        </p:txBody>
      </p:sp>
      <p:sp>
        <p:nvSpPr>
          <p:cNvPr id="4" name="Text 2"/>
          <p:cNvSpPr/>
          <p:nvPr/>
        </p:nvSpPr>
        <p:spPr>
          <a:xfrm>
            <a:off x="548640" y="621792"/>
            <a:ext cx="1106424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Wrap-Up</a:t>
            </a:r>
            <a:endParaRPr lang="en-US" sz="3000" dirty="0"/>
          </a:p>
        </p:txBody>
      </p:sp>
      <p:sp>
        <p:nvSpPr>
          <p:cNvPr id="5" name="Shape 3"/>
          <p:cNvSpPr/>
          <p:nvPr/>
        </p:nvSpPr>
        <p:spPr>
          <a:xfrm>
            <a:off x="548640" y="1463040"/>
            <a:ext cx="11064240" cy="1920240"/>
          </a:xfrm>
          <a:prstGeom prst="roundRect">
            <a:avLst>
              <a:gd name="adj" fmla="val 3810"/>
            </a:avLst>
          </a:prstGeom>
          <a:solidFill>
            <a:srgbClr val="B5473A"/>
          </a:solidFill>
          <a:ln/>
        </p:spPr>
      </p:sp>
      <p:sp>
        <p:nvSpPr>
          <p:cNvPr id="6" name="Text 4"/>
          <p:cNvSpPr/>
          <p:nvPr/>
        </p:nvSpPr>
        <p:spPr>
          <a:xfrm>
            <a:off x="868680" y="1645920"/>
            <a:ext cx="10424160" cy="274320"/>
          </a:xfrm>
          <a:prstGeom prst="rect">
            <a:avLst/>
          </a:prstGeom>
          <a:noFill/>
          <a:ln/>
        </p:spPr>
        <p:txBody>
          <a:bodyPr wrap="square" rtlCol="0" anchor="ctr"/>
          <a:lstStyle/>
          <a:p>
            <a:pPr indent="0" marL="0">
              <a:buNone/>
            </a:pPr>
            <a:r>
              <a:rPr lang="en-US" sz="1150" b="1" spc="100" kern="0" dirty="0">
                <a:solidFill>
                  <a:srgbClr val="F3D9D9"/>
                </a:solidFill>
                <a:latin typeface="Calibri" pitchFamily="34" charset="0"/>
                <a:ea typeface="Calibri" pitchFamily="34" charset="-122"/>
                <a:cs typeface="Calibri" pitchFamily="34" charset="-120"/>
              </a:rPr>
              <a:t>CLOSING CHALLENGE</a:t>
            </a:r>
            <a:endParaRPr lang="en-US" sz="1150" dirty="0"/>
          </a:p>
        </p:txBody>
      </p:sp>
      <p:sp>
        <p:nvSpPr>
          <p:cNvPr id="7" name="Text 5"/>
          <p:cNvSpPr/>
          <p:nvPr/>
        </p:nvSpPr>
        <p:spPr>
          <a:xfrm>
            <a:off x="868680" y="1965960"/>
            <a:ext cx="10424160" cy="1280160"/>
          </a:xfrm>
          <a:prstGeom prst="rect">
            <a:avLst/>
          </a:prstGeom>
          <a:noFill/>
          <a:ln/>
        </p:spPr>
        <p:txBody>
          <a:bodyPr wrap="square" rtlCol="0" anchor="ctr"/>
          <a:lstStyle/>
          <a:p>
            <a:pPr indent="0" marL="0">
              <a:lnSpc>
                <a:spcPct val="125000"/>
              </a:lnSpc>
              <a:buNone/>
            </a:pPr>
            <a:r>
              <a:rPr lang="en-US" sz="1900" b="1" dirty="0">
                <a:solidFill>
                  <a:srgbClr val="FFFFFF"/>
                </a:solidFill>
                <a:latin typeface="Cambria" pitchFamily="34" charset="0"/>
                <a:ea typeface="Cambria" pitchFamily="34" charset="-122"/>
                <a:cs typeface="Cambria" pitchFamily="34" charset="-120"/>
              </a:rPr>
              <a:t>This week: look at one building near you and try to guess three decisions the architect and the quantity surveyor each had to make.</a:t>
            </a:r>
            <a:endParaRPr lang="en-US" sz="1900" dirty="0"/>
          </a:p>
        </p:txBody>
      </p:sp>
      <p:sp>
        <p:nvSpPr>
          <p:cNvPr id="8" name="Text 6"/>
          <p:cNvSpPr/>
          <p:nvPr/>
        </p:nvSpPr>
        <p:spPr>
          <a:xfrm>
            <a:off x="548640" y="3657600"/>
            <a:ext cx="11064240" cy="274320"/>
          </a:xfrm>
          <a:prstGeom prst="rect">
            <a:avLst/>
          </a:prstGeom>
          <a:noFill/>
          <a:ln/>
        </p:spPr>
        <p:txBody>
          <a:bodyPr wrap="square" rtlCol="0" anchor="ctr"/>
          <a:lstStyle/>
          <a:p>
            <a:pPr indent="0" marL="0">
              <a:buNone/>
            </a:pPr>
            <a:r>
              <a:rPr lang="en-US" sz="1200" b="1" spc="100" kern="0" dirty="0">
                <a:solidFill>
                  <a:srgbClr val="1A1A1A"/>
                </a:solidFill>
                <a:latin typeface="Calibri" pitchFamily="34" charset="0"/>
                <a:ea typeface="Calibri" pitchFamily="34" charset="-122"/>
                <a:cs typeface="Calibri" pitchFamily="34" charset="-120"/>
              </a:rPr>
              <a:t>MATERIALS CHECKLIST</a:t>
            </a:r>
            <a:endParaRPr lang="en-US" sz="1200" dirty="0"/>
          </a:p>
        </p:txBody>
      </p:sp>
      <p:sp>
        <p:nvSpPr>
          <p:cNvPr id="9" name="Text 7"/>
          <p:cNvSpPr/>
          <p:nvPr/>
        </p:nvSpPr>
        <p:spPr>
          <a:xfrm>
            <a:off x="548640" y="4023360"/>
            <a:ext cx="11064240" cy="118872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A floor plan, cost estimate sheet, or 3D render to show</a:t>
            </a:r>
            <a:endParaRPr lang="en-US" sz="1450" dirty="0"/>
          </a:p>
          <a:p>
            <a:pPr marL="342900" indent="-342900">
              <a:spcAft>
                <a:spcPts val="800"/>
              </a:spcAft>
              <a:buSzPct val="100000"/>
              <a:buChar char="✓"/>
            </a:pPr>
            <a:r>
              <a:rPr lang="en-US" sz="1450" dirty="0">
                <a:solidFill>
                  <a:srgbClr val="222222"/>
                </a:solidFill>
                <a:latin typeface="Calibri" pitchFamily="34" charset="0"/>
                <a:ea typeface="Calibri" pitchFamily="34" charset="-122"/>
                <a:cs typeface="Calibri" pitchFamily="34" charset="-120"/>
              </a:rPr>
              <a:t>Site photos of a real project, before and after</a:t>
            </a:r>
            <a:endParaRPr lang="en-US" sz="1450" dirty="0"/>
          </a:p>
        </p:txBody>
      </p:sp>
      <p:sp>
        <p:nvSpPr>
          <p:cNvPr id="10" name="Shape 8"/>
          <p:cNvSpPr/>
          <p:nvPr/>
        </p:nvSpPr>
        <p:spPr>
          <a:xfrm>
            <a:off x="548640" y="5394960"/>
            <a:ext cx="11064240" cy="914400"/>
          </a:xfrm>
          <a:prstGeom prst="roundRect">
            <a:avLst>
              <a:gd name="adj" fmla="val 8000"/>
            </a:avLst>
          </a:prstGeom>
          <a:solidFill>
            <a:srgbClr val="F7F7F7"/>
          </a:solidFill>
          <a:ln/>
        </p:spPr>
      </p:sp>
      <p:sp>
        <p:nvSpPr>
          <p:cNvPr id="11" name="Text 9"/>
          <p:cNvSpPr/>
          <p:nvPr/>
        </p:nvSpPr>
        <p:spPr>
          <a:xfrm>
            <a:off x="822960" y="5394960"/>
            <a:ext cx="10515600" cy="914400"/>
          </a:xfrm>
          <a:prstGeom prst="rect">
            <a:avLst/>
          </a:prstGeom>
          <a:noFill/>
          <a:ln/>
        </p:spPr>
        <p:txBody>
          <a:bodyPr wrap="square" rtlCol="0" anchor="ctr"/>
          <a:lstStyle/>
          <a:p>
            <a:pPr indent="0" marL="0">
              <a:lnSpc>
                <a:spcPct val="125000"/>
              </a:lnSpc>
              <a:buNone/>
            </a:pPr>
            <a:r>
              <a:rPr lang="en-US" sz="1200" i="1" dirty="0">
                <a:solidFill>
                  <a:srgbClr val="333333"/>
                </a:solidFill>
                <a:latin typeface="Calibri" pitchFamily="34" charset="0"/>
                <a:ea typeface="Calibri" pitchFamily="34" charset="-122"/>
                <a:cs typeface="Calibri" pitchFamily="34" charset="-120"/>
              </a:rPr>
              <a:t>That's the full walkthrough for E4 — The Built Environment &amp; Real Estate. Every slide in this set is a starting point: adapt the order, cut what doesn't fit, and bring your own story wherever it lands better than ours.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162</Slides>
  <Notes>162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162</vt:i4>
      </vt:variant>
    </vt:vector>
  </HeadingPairs>
  <TitlesOfParts>
    <vt:vector size="1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Boma Career Day 2026 — Cluster Session Slides</dc:title>
  <dc:subject>PptxGenJS Presentation</dc:subject>
  <dc:creator>WG2 — Boma Career Day 2026</dc:creator>
  <cp:lastModifiedBy>WG2 — Boma Career Day 2026</cp:lastModifiedBy>
  <cp:revision>1</cp:revision>
  <dcterms:created xsi:type="dcterms:W3CDTF">2026-08-18T20:55:59Z</dcterms:created>
  <dcterms:modified xsi:type="dcterms:W3CDTF">2026-08-18T20:55:59Z</dcterms:modified>
</cp:coreProperties>
</file>